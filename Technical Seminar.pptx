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FE53AC-E121-4B27-BD18-524DBE5E4AF5}" v="2" dt="2026-05-17T15:53:51.5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46" y="50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lie thakur" userId="f3e5fba7346f6fb8" providerId="LiveId" clId="{1C09B967-9617-4F33-9C41-D4A0CE5E31F0}"/>
    <pc:docChg chg="undo custSel modSld sldOrd">
      <pc:chgData name="allie thakur" userId="f3e5fba7346f6fb8" providerId="LiveId" clId="{1C09B967-9617-4F33-9C41-D4A0CE5E31F0}" dt="2026-05-17T15:56:23.915" v="592" actId="20577"/>
      <pc:docMkLst>
        <pc:docMk/>
      </pc:docMkLst>
      <pc:sldChg chg="delSp modSp mod">
        <pc:chgData name="allie thakur" userId="f3e5fba7346f6fb8" providerId="LiveId" clId="{1C09B967-9617-4F33-9C41-D4A0CE5E31F0}" dt="2026-05-17T15:54:41.787" v="586" actId="5793"/>
        <pc:sldMkLst>
          <pc:docMk/>
          <pc:sldMk cId="0" sldId="256"/>
        </pc:sldMkLst>
        <pc:spChg chg="del">
          <ac:chgData name="allie thakur" userId="f3e5fba7346f6fb8" providerId="LiveId" clId="{1C09B967-9617-4F33-9C41-D4A0CE5E31F0}" dt="2026-05-17T15:36:59.248" v="0" actId="478"/>
          <ac:spMkLst>
            <pc:docMk/>
            <pc:sldMk cId="0" sldId="256"/>
            <ac:spMk id="2" creationId="{00000000-0000-0000-0000-000000000000}"/>
          </ac:spMkLst>
        </pc:spChg>
        <pc:spChg chg="del">
          <ac:chgData name="allie thakur" userId="f3e5fba7346f6fb8" providerId="LiveId" clId="{1C09B967-9617-4F33-9C41-D4A0CE5E31F0}" dt="2026-05-17T15:37:01.133" v="1" actId="478"/>
          <ac:spMkLst>
            <pc:docMk/>
            <pc:sldMk cId="0" sldId="256"/>
            <ac:spMk id="3" creationId="{00000000-0000-0000-0000-000000000000}"/>
          </ac:spMkLst>
        </pc:spChg>
        <pc:spChg chg="del mod">
          <ac:chgData name="allie thakur" userId="f3e5fba7346f6fb8" providerId="LiveId" clId="{1C09B967-9617-4F33-9C41-D4A0CE5E31F0}" dt="2026-05-17T15:46:43.921" v="229" actId="21"/>
          <ac:spMkLst>
            <pc:docMk/>
            <pc:sldMk cId="0" sldId="256"/>
            <ac:spMk id="4" creationId="{00000000-0000-0000-0000-000000000000}"/>
          </ac:spMkLst>
        </pc:spChg>
        <pc:spChg chg="mod">
          <ac:chgData name="allie thakur" userId="f3e5fba7346f6fb8" providerId="LiveId" clId="{1C09B967-9617-4F33-9C41-D4A0CE5E31F0}" dt="2026-05-17T15:46:02.296" v="227" actId="20577"/>
          <ac:spMkLst>
            <pc:docMk/>
            <pc:sldMk cId="0" sldId="256"/>
            <ac:spMk id="5" creationId="{00000000-0000-0000-0000-000000000000}"/>
          </ac:spMkLst>
        </pc:spChg>
        <pc:spChg chg="mod">
          <ac:chgData name="allie thakur" userId="f3e5fba7346f6fb8" providerId="LiveId" clId="{1C09B967-9617-4F33-9C41-D4A0CE5E31F0}" dt="2026-05-17T15:54:41.787" v="586" actId="5793"/>
          <ac:spMkLst>
            <pc:docMk/>
            <pc:sldMk cId="0" sldId="256"/>
            <ac:spMk id="6" creationId="{00000000-0000-0000-0000-000000000000}"/>
          </ac:spMkLst>
        </pc:spChg>
        <pc:spChg chg="mod">
          <ac:chgData name="allie thakur" userId="f3e5fba7346f6fb8" providerId="LiveId" clId="{1C09B967-9617-4F33-9C41-D4A0CE5E31F0}" dt="2026-05-17T15:52:08.173" v="487" actId="1076"/>
          <ac:spMkLst>
            <pc:docMk/>
            <pc:sldMk cId="0" sldId="256"/>
            <ac:spMk id="7" creationId="{00000000-0000-0000-0000-000000000000}"/>
          </ac:spMkLst>
        </pc:spChg>
        <pc:spChg chg="mod">
          <ac:chgData name="allie thakur" userId="f3e5fba7346f6fb8" providerId="LiveId" clId="{1C09B967-9617-4F33-9C41-D4A0CE5E31F0}" dt="2026-05-17T15:52:25.169" v="489" actId="1076"/>
          <ac:spMkLst>
            <pc:docMk/>
            <pc:sldMk cId="0" sldId="256"/>
            <ac:spMk id="8" creationId="{00000000-0000-0000-0000-000000000000}"/>
          </ac:spMkLst>
        </pc:spChg>
        <pc:spChg chg="mod">
          <ac:chgData name="allie thakur" userId="f3e5fba7346f6fb8" providerId="LiveId" clId="{1C09B967-9617-4F33-9C41-D4A0CE5E31F0}" dt="2026-05-17T15:52:20.504" v="488" actId="1076"/>
          <ac:spMkLst>
            <pc:docMk/>
            <pc:sldMk cId="0" sldId="256"/>
            <ac:spMk id="9" creationId="{00000000-0000-0000-0000-000000000000}"/>
          </ac:spMkLst>
        </pc:spChg>
        <pc:spChg chg="mod">
          <ac:chgData name="allie thakur" userId="f3e5fba7346f6fb8" providerId="LiveId" clId="{1C09B967-9617-4F33-9C41-D4A0CE5E31F0}" dt="2026-05-17T15:54:09.657" v="579" actId="1076"/>
          <ac:spMkLst>
            <pc:docMk/>
            <pc:sldMk cId="0" sldId="256"/>
            <ac:spMk id="10" creationId="{00000000-0000-0000-0000-000000000000}"/>
          </ac:spMkLst>
        </pc:spChg>
        <pc:spChg chg="mod">
          <ac:chgData name="allie thakur" userId="f3e5fba7346f6fb8" providerId="LiveId" clId="{1C09B967-9617-4F33-9C41-D4A0CE5E31F0}" dt="2026-05-17T15:53:21.357" v="523" actId="20577"/>
          <ac:spMkLst>
            <pc:docMk/>
            <pc:sldMk cId="0" sldId="256"/>
            <ac:spMk id="11" creationId="{00000000-0000-0000-0000-000000000000}"/>
          </ac:spMkLst>
        </pc:spChg>
        <pc:spChg chg="mod">
          <ac:chgData name="allie thakur" userId="f3e5fba7346f6fb8" providerId="LiveId" clId="{1C09B967-9617-4F33-9C41-D4A0CE5E31F0}" dt="2026-05-17T15:53:17.507" v="509" actId="20577"/>
          <ac:spMkLst>
            <pc:docMk/>
            <pc:sldMk cId="0" sldId="256"/>
            <ac:spMk id="12" creationId="{00000000-0000-0000-0000-000000000000}"/>
          </ac:spMkLst>
        </pc:spChg>
        <pc:spChg chg="mod">
          <ac:chgData name="allie thakur" userId="f3e5fba7346f6fb8" providerId="LiveId" clId="{1C09B967-9617-4F33-9C41-D4A0CE5E31F0}" dt="2026-05-17T15:52:50.844" v="493" actId="1076"/>
          <ac:spMkLst>
            <pc:docMk/>
            <pc:sldMk cId="0" sldId="256"/>
            <ac:spMk id="13" creationId="{00000000-0000-0000-0000-000000000000}"/>
          </ac:spMkLst>
        </pc:spChg>
        <pc:spChg chg="mod">
          <ac:chgData name="allie thakur" userId="f3e5fba7346f6fb8" providerId="LiveId" clId="{1C09B967-9617-4F33-9C41-D4A0CE5E31F0}" dt="2026-05-17T15:53:00.020" v="494" actId="1076"/>
          <ac:spMkLst>
            <pc:docMk/>
            <pc:sldMk cId="0" sldId="256"/>
            <ac:spMk id="14" creationId="{00000000-0000-0000-0000-000000000000}"/>
          </ac:spMkLst>
        </pc:spChg>
        <pc:spChg chg="mod">
          <ac:chgData name="allie thakur" userId="f3e5fba7346f6fb8" providerId="LiveId" clId="{1C09B967-9617-4F33-9C41-D4A0CE5E31F0}" dt="2026-05-17T15:40:55.786" v="87" actId="20577"/>
          <ac:spMkLst>
            <pc:docMk/>
            <pc:sldMk cId="0" sldId="256"/>
            <ac:spMk id="15" creationId="{00000000-0000-0000-0000-000000000000}"/>
          </ac:spMkLst>
        </pc:spChg>
        <pc:spChg chg="del mod">
          <ac:chgData name="allie thakur" userId="f3e5fba7346f6fb8" providerId="LiveId" clId="{1C09B967-9617-4F33-9C41-D4A0CE5E31F0}" dt="2026-05-17T15:53:07.090" v="497" actId="478"/>
          <ac:spMkLst>
            <pc:docMk/>
            <pc:sldMk cId="0" sldId="256"/>
            <ac:spMk id="16" creationId="{00000000-0000-0000-0000-000000000000}"/>
          </ac:spMkLst>
        </pc:spChg>
        <pc:spChg chg="mod">
          <ac:chgData name="allie thakur" userId="f3e5fba7346f6fb8" providerId="LiveId" clId="{1C09B967-9617-4F33-9C41-D4A0CE5E31F0}" dt="2026-05-17T15:53:28.470" v="524" actId="1076"/>
          <ac:spMkLst>
            <pc:docMk/>
            <pc:sldMk cId="0" sldId="256"/>
            <ac:spMk id="17" creationId="{00000000-0000-0000-0000-000000000000}"/>
          </ac:spMkLst>
        </pc:spChg>
        <pc:spChg chg="mod">
          <ac:chgData name="allie thakur" userId="f3e5fba7346f6fb8" providerId="LiveId" clId="{1C09B967-9617-4F33-9C41-D4A0CE5E31F0}" dt="2026-05-17T15:54:06.504" v="578" actId="14100"/>
          <ac:spMkLst>
            <pc:docMk/>
            <pc:sldMk cId="0" sldId="256"/>
            <ac:spMk id="18" creationId="{00000000-0000-0000-0000-000000000000}"/>
          </ac:spMkLst>
        </pc:spChg>
      </pc:sldChg>
      <pc:sldChg chg="modSp mod">
        <pc:chgData name="allie thakur" userId="f3e5fba7346f6fb8" providerId="LiveId" clId="{1C09B967-9617-4F33-9C41-D4A0CE5E31F0}" dt="2026-05-17T15:39:06.192" v="9" actId="20577"/>
        <pc:sldMkLst>
          <pc:docMk/>
          <pc:sldMk cId="0" sldId="258"/>
        </pc:sldMkLst>
        <pc:spChg chg="mod">
          <ac:chgData name="allie thakur" userId="f3e5fba7346f6fb8" providerId="LiveId" clId="{1C09B967-9617-4F33-9C41-D4A0CE5E31F0}" dt="2026-05-17T15:37:11.955" v="2" actId="20577"/>
          <ac:spMkLst>
            <pc:docMk/>
            <pc:sldMk cId="0" sldId="258"/>
            <ac:spMk id="16" creationId="{00000000-0000-0000-0000-000000000000}"/>
          </ac:spMkLst>
        </pc:spChg>
        <pc:spChg chg="mod">
          <ac:chgData name="allie thakur" userId="f3e5fba7346f6fb8" providerId="LiveId" clId="{1C09B967-9617-4F33-9C41-D4A0CE5E31F0}" dt="2026-05-17T15:39:01.295" v="6" actId="20577"/>
          <ac:spMkLst>
            <pc:docMk/>
            <pc:sldMk cId="0" sldId="258"/>
            <ac:spMk id="18" creationId="{00000000-0000-0000-0000-000000000000}"/>
          </ac:spMkLst>
        </pc:spChg>
        <pc:spChg chg="mod">
          <ac:chgData name="allie thakur" userId="f3e5fba7346f6fb8" providerId="LiveId" clId="{1C09B967-9617-4F33-9C41-D4A0CE5E31F0}" dt="2026-05-17T15:37:14.463" v="4" actId="20577"/>
          <ac:spMkLst>
            <pc:docMk/>
            <pc:sldMk cId="0" sldId="258"/>
            <ac:spMk id="20" creationId="{00000000-0000-0000-0000-000000000000}"/>
          </ac:spMkLst>
        </pc:spChg>
        <pc:spChg chg="mod">
          <ac:chgData name="allie thakur" userId="f3e5fba7346f6fb8" providerId="LiveId" clId="{1C09B967-9617-4F33-9C41-D4A0CE5E31F0}" dt="2026-05-17T15:39:03.380" v="7" actId="20577"/>
          <ac:spMkLst>
            <pc:docMk/>
            <pc:sldMk cId="0" sldId="258"/>
            <ac:spMk id="22" creationId="{00000000-0000-0000-0000-000000000000}"/>
          </ac:spMkLst>
        </pc:spChg>
        <pc:spChg chg="mod">
          <ac:chgData name="allie thakur" userId="f3e5fba7346f6fb8" providerId="LiveId" clId="{1C09B967-9617-4F33-9C41-D4A0CE5E31F0}" dt="2026-05-17T15:37:16.350" v="5" actId="20577"/>
          <ac:spMkLst>
            <pc:docMk/>
            <pc:sldMk cId="0" sldId="258"/>
            <ac:spMk id="24" creationId="{00000000-0000-0000-0000-000000000000}"/>
          </ac:spMkLst>
        </pc:spChg>
        <pc:spChg chg="mod">
          <ac:chgData name="allie thakur" userId="f3e5fba7346f6fb8" providerId="LiveId" clId="{1C09B967-9617-4F33-9C41-D4A0CE5E31F0}" dt="2026-05-17T15:39:06.192" v="9" actId="20577"/>
          <ac:spMkLst>
            <pc:docMk/>
            <pc:sldMk cId="0" sldId="258"/>
            <ac:spMk id="26" creationId="{00000000-0000-0000-0000-000000000000}"/>
          </ac:spMkLst>
        </pc:spChg>
      </pc:sldChg>
      <pc:sldChg chg="delSp modSp mod">
        <pc:chgData name="allie thakur" userId="f3e5fba7346f6fb8" providerId="LiveId" clId="{1C09B967-9617-4F33-9C41-D4A0CE5E31F0}" dt="2026-05-17T15:47:46.784" v="268" actId="14100"/>
        <pc:sldMkLst>
          <pc:docMk/>
          <pc:sldMk cId="0" sldId="259"/>
        </pc:sldMkLst>
        <pc:spChg chg="del mod">
          <ac:chgData name="allie thakur" userId="f3e5fba7346f6fb8" providerId="LiveId" clId="{1C09B967-9617-4F33-9C41-D4A0CE5E31F0}" dt="2026-05-17T15:47:34.060" v="267" actId="478"/>
          <ac:spMkLst>
            <pc:docMk/>
            <pc:sldMk cId="0" sldId="259"/>
            <ac:spMk id="5" creationId="{00000000-0000-0000-0000-000000000000}"/>
          </ac:spMkLst>
        </pc:spChg>
        <pc:spChg chg="mod">
          <ac:chgData name="allie thakur" userId="f3e5fba7346f6fb8" providerId="LiveId" clId="{1C09B967-9617-4F33-9C41-D4A0CE5E31F0}" dt="2026-05-17T15:39:12.690" v="10" actId="20577"/>
          <ac:spMkLst>
            <pc:docMk/>
            <pc:sldMk cId="0" sldId="259"/>
            <ac:spMk id="8" creationId="{00000000-0000-0000-0000-000000000000}"/>
          </ac:spMkLst>
        </pc:spChg>
        <pc:spChg chg="mod">
          <ac:chgData name="allie thakur" userId="f3e5fba7346f6fb8" providerId="LiveId" clId="{1C09B967-9617-4F33-9C41-D4A0CE5E31F0}" dt="2026-05-17T15:39:14.445" v="11" actId="20577"/>
          <ac:spMkLst>
            <pc:docMk/>
            <pc:sldMk cId="0" sldId="259"/>
            <ac:spMk id="11" creationId="{00000000-0000-0000-0000-000000000000}"/>
          </ac:spMkLst>
        </pc:spChg>
        <pc:spChg chg="mod">
          <ac:chgData name="allie thakur" userId="f3e5fba7346f6fb8" providerId="LiveId" clId="{1C09B967-9617-4F33-9C41-D4A0CE5E31F0}" dt="2026-05-17T15:39:17.169" v="13" actId="20577"/>
          <ac:spMkLst>
            <pc:docMk/>
            <pc:sldMk cId="0" sldId="259"/>
            <ac:spMk id="14" creationId="{00000000-0000-0000-0000-000000000000}"/>
          </ac:spMkLst>
        </pc:spChg>
        <pc:spChg chg="mod">
          <ac:chgData name="allie thakur" userId="f3e5fba7346f6fb8" providerId="LiveId" clId="{1C09B967-9617-4F33-9C41-D4A0CE5E31F0}" dt="2026-05-17T15:39:19.072" v="14" actId="20577"/>
          <ac:spMkLst>
            <pc:docMk/>
            <pc:sldMk cId="0" sldId="259"/>
            <ac:spMk id="17" creationId="{00000000-0000-0000-0000-000000000000}"/>
          </ac:spMkLst>
        </pc:spChg>
        <pc:spChg chg="mod">
          <ac:chgData name="allie thakur" userId="f3e5fba7346f6fb8" providerId="LiveId" clId="{1C09B967-9617-4F33-9C41-D4A0CE5E31F0}" dt="2026-05-17T15:47:46.784" v="268" actId="14100"/>
          <ac:spMkLst>
            <pc:docMk/>
            <pc:sldMk cId="0" sldId="259"/>
            <ac:spMk id="19" creationId="{00000000-0000-0000-0000-000000000000}"/>
          </ac:spMkLst>
        </pc:spChg>
      </pc:sldChg>
      <pc:sldChg chg="delSp mod">
        <pc:chgData name="allie thakur" userId="f3e5fba7346f6fb8" providerId="LiveId" clId="{1C09B967-9617-4F33-9C41-D4A0CE5E31F0}" dt="2026-05-17T15:47:52.322" v="269" actId="478"/>
        <pc:sldMkLst>
          <pc:docMk/>
          <pc:sldMk cId="0" sldId="260"/>
        </pc:sldMkLst>
        <pc:spChg chg="del">
          <ac:chgData name="allie thakur" userId="f3e5fba7346f6fb8" providerId="LiveId" clId="{1C09B967-9617-4F33-9C41-D4A0CE5E31F0}" dt="2026-05-17T15:47:52.322" v="269" actId="478"/>
          <ac:spMkLst>
            <pc:docMk/>
            <pc:sldMk cId="0" sldId="260"/>
            <ac:spMk id="2" creationId="{00000000-0000-0000-0000-000000000000}"/>
          </ac:spMkLst>
        </pc:spChg>
      </pc:sldChg>
      <pc:sldChg chg="modSp mod">
        <pc:chgData name="allie thakur" userId="f3e5fba7346f6fb8" providerId="LiveId" clId="{1C09B967-9617-4F33-9C41-D4A0CE5E31F0}" dt="2026-05-17T15:39:37.493" v="24" actId="20577"/>
        <pc:sldMkLst>
          <pc:docMk/>
          <pc:sldMk cId="0" sldId="261"/>
        </pc:sldMkLst>
        <pc:spChg chg="mod">
          <ac:chgData name="allie thakur" userId="f3e5fba7346f6fb8" providerId="LiveId" clId="{1C09B967-9617-4F33-9C41-D4A0CE5E31F0}" dt="2026-05-17T15:39:25.548" v="16" actId="20577"/>
          <ac:spMkLst>
            <pc:docMk/>
            <pc:sldMk cId="0" sldId="261"/>
            <ac:spMk id="7" creationId="{00000000-0000-0000-0000-000000000000}"/>
          </ac:spMkLst>
        </pc:spChg>
        <pc:spChg chg="mod">
          <ac:chgData name="allie thakur" userId="f3e5fba7346f6fb8" providerId="LiveId" clId="{1C09B967-9617-4F33-9C41-D4A0CE5E31F0}" dt="2026-05-17T15:39:28.151" v="17" actId="20577"/>
          <ac:spMkLst>
            <pc:docMk/>
            <pc:sldMk cId="0" sldId="261"/>
            <ac:spMk id="11" creationId="{00000000-0000-0000-0000-000000000000}"/>
          </ac:spMkLst>
        </pc:spChg>
        <pc:spChg chg="mod">
          <ac:chgData name="allie thakur" userId="f3e5fba7346f6fb8" providerId="LiveId" clId="{1C09B967-9617-4F33-9C41-D4A0CE5E31F0}" dt="2026-05-17T15:39:30.442" v="20" actId="20577"/>
          <ac:spMkLst>
            <pc:docMk/>
            <pc:sldMk cId="0" sldId="261"/>
            <ac:spMk id="15" creationId="{00000000-0000-0000-0000-000000000000}"/>
          </ac:spMkLst>
        </pc:spChg>
        <pc:spChg chg="mod">
          <ac:chgData name="allie thakur" userId="f3e5fba7346f6fb8" providerId="LiveId" clId="{1C09B967-9617-4F33-9C41-D4A0CE5E31F0}" dt="2026-05-17T15:39:33.369" v="22" actId="20577"/>
          <ac:spMkLst>
            <pc:docMk/>
            <pc:sldMk cId="0" sldId="261"/>
            <ac:spMk id="19" creationId="{00000000-0000-0000-0000-000000000000}"/>
          </ac:spMkLst>
        </pc:spChg>
        <pc:spChg chg="mod">
          <ac:chgData name="allie thakur" userId="f3e5fba7346f6fb8" providerId="LiveId" clId="{1C09B967-9617-4F33-9C41-D4A0CE5E31F0}" dt="2026-05-17T15:39:35.330" v="23" actId="20577"/>
          <ac:spMkLst>
            <pc:docMk/>
            <pc:sldMk cId="0" sldId="261"/>
            <ac:spMk id="23" creationId="{00000000-0000-0000-0000-000000000000}"/>
          </ac:spMkLst>
        </pc:spChg>
        <pc:spChg chg="mod">
          <ac:chgData name="allie thakur" userId="f3e5fba7346f6fb8" providerId="LiveId" clId="{1C09B967-9617-4F33-9C41-D4A0CE5E31F0}" dt="2026-05-17T15:39:37.493" v="24" actId="20577"/>
          <ac:spMkLst>
            <pc:docMk/>
            <pc:sldMk cId="0" sldId="261"/>
            <ac:spMk id="27" creationId="{00000000-0000-0000-0000-000000000000}"/>
          </ac:spMkLst>
        </pc:spChg>
      </pc:sldChg>
      <pc:sldChg chg="modSp mod">
        <pc:chgData name="allie thakur" userId="f3e5fba7346f6fb8" providerId="LiveId" clId="{1C09B967-9617-4F33-9C41-D4A0CE5E31F0}" dt="2026-05-17T15:39:57.784" v="29" actId="20577"/>
        <pc:sldMkLst>
          <pc:docMk/>
          <pc:sldMk cId="0" sldId="264"/>
        </pc:sldMkLst>
        <pc:spChg chg="mod">
          <ac:chgData name="allie thakur" userId="f3e5fba7346f6fb8" providerId="LiveId" clId="{1C09B967-9617-4F33-9C41-D4A0CE5E31F0}" dt="2026-05-17T15:39:51.300" v="25" actId="20577"/>
          <ac:spMkLst>
            <pc:docMk/>
            <pc:sldMk cId="0" sldId="264"/>
            <ac:spMk id="7" creationId="{00000000-0000-0000-0000-000000000000}"/>
          </ac:spMkLst>
        </pc:spChg>
        <pc:spChg chg="mod">
          <ac:chgData name="allie thakur" userId="f3e5fba7346f6fb8" providerId="LiveId" clId="{1C09B967-9617-4F33-9C41-D4A0CE5E31F0}" dt="2026-05-17T15:39:53.762" v="27" actId="20577"/>
          <ac:spMkLst>
            <pc:docMk/>
            <pc:sldMk cId="0" sldId="264"/>
            <ac:spMk id="11" creationId="{00000000-0000-0000-0000-000000000000}"/>
          </ac:spMkLst>
        </pc:spChg>
        <pc:spChg chg="mod">
          <ac:chgData name="allie thakur" userId="f3e5fba7346f6fb8" providerId="LiveId" clId="{1C09B967-9617-4F33-9C41-D4A0CE5E31F0}" dt="2026-05-17T15:39:55.420" v="28" actId="20577"/>
          <ac:spMkLst>
            <pc:docMk/>
            <pc:sldMk cId="0" sldId="264"/>
            <ac:spMk id="15" creationId="{00000000-0000-0000-0000-000000000000}"/>
          </ac:spMkLst>
        </pc:spChg>
        <pc:spChg chg="mod">
          <ac:chgData name="allie thakur" userId="f3e5fba7346f6fb8" providerId="LiveId" clId="{1C09B967-9617-4F33-9C41-D4A0CE5E31F0}" dt="2026-05-17T15:39:57.784" v="29" actId="20577"/>
          <ac:spMkLst>
            <pc:docMk/>
            <pc:sldMk cId="0" sldId="264"/>
            <ac:spMk id="19" creationId="{00000000-0000-0000-0000-000000000000}"/>
          </ac:spMkLst>
        </pc:spChg>
      </pc:sldChg>
      <pc:sldChg chg="modSp mod">
        <pc:chgData name="allie thakur" userId="f3e5fba7346f6fb8" providerId="LiveId" clId="{1C09B967-9617-4F33-9C41-D4A0CE5E31F0}" dt="2026-05-17T15:49:19.189" v="282" actId="14100"/>
        <pc:sldMkLst>
          <pc:docMk/>
          <pc:sldMk cId="0" sldId="267"/>
        </pc:sldMkLst>
        <pc:spChg chg="mod">
          <ac:chgData name="allie thakur" userId="f3e5fba7346f6fb8" providerId="LiveId" clId="{1C09B967-9617-4F33-9C41-D4A0CE5E31F0}" dt="2026-05-17T15:48:43.247" v="277" actId="14100"/>
          <ac:spMkLst>
            <pc:docMk/>
            <pc:sldMk cId="0" sldId="267"/>
            <ac:spMk id="9" creationId="{00000000-0000-0000-0000-000000000000}"/>
          </ac:spMkLst>
        </pc:spChg>
        <pc:spChg chg="mod">
          <ac:chgData name="allie thakur" userId="f3e5fba7346f6fb8" providerId="LiveId" clId="{1C09B967-9617-4F33-9C41-D4A0CE5E31F0}" dt="2026-05-17T15:48:48.535" v="278" actId="14100"/>
          <ac:spMkLst>
            <pc:docMk/>
            <pc:sldMk cId="0" sldId="267"/>
            <ac:spMk id="11" creationId="{00000000-0000-0000-0000-000000000000}"/>
          </ac:spMkLst>
        </pc:spChg>
        <pc:spChg chg="mod">
          <ac:chgData name="allie thakur" userId="f3e5fba7346f6fb8" providerId="LiveId" clId="{1C09B967-9617-4F33-9C41-D4A0CE5E31F0}" dt="2026-05-17T15:48:58.155" v="279" actId="14100"/>
          <ac:spMkLst>
            <pc:docMk/>
            <pc:sldMk cId="0" sldId="267"/>
            <ac:spMk id="19" creationId="{00000000-0000-0000-0000-000000000000}"/>
          </ac:spMkLst>
        </pc:spChg>
        <pc:spChg chg="mod">
          <ac:chgData name="allie thakur" userId="f3e5fba7346f6fb8" providerId="LiveId" clId="{1C09B967-9617-4F33-9C41-D4A0CE5E31F0}" dt="2026-05-17T15:49:06.670" v="280" actId="14100"/>
          <ac:spMkLst>
            <pc:docMk/>
            <pc:sldMk cId="0" sldId="267"/>
            <ac:spMk id="21" creationId="{00000000-0000-0000-0000-000000000000}"/>
          </ac:spMkLst>
        </pc:spChg>
        <pc:spChg chg="mod">
          <ac:chgData name="allie thakur" userId="f3e5fba7346f6fb8" providerId="LiveId" clId="{1C09B967-9617-4F33-9C41-D4A0CE5E31F0}" dt="2026-05-17T15:49:14.572" v="281" actId="14100"/>
          <ac:spMkLst>
            <pc:docMk/>
            <pc:sldMk cId="0" sldId="267"/>
            <ac:spMk id="29" creationId="{00000000-0000-0000-0000-000000000000}"/>
          </ac:spMkLst>
        </pc:spChg>
        <pc:spChg chg="mod">
          <ac:chgData name="allie thakur" userId="f3e5fba7346f6fb8" providerId="LiveId" clId="{1C09B967-9617-4F33-9C41-D4A0CE5E31F0}" dt="2026-05-17T15:49:19.189" v="282" actId="14100"/>
          <ac:spMkLst>
            <pc:docMk/>
            <pc:sldMk cId="0" sldId="267"/>
            <ac:spMk id="31" creationId="{00000000-0000-0000-0000-000000000000}"/>
          </ac:spMkLst>
        </pc:spChg>
      </pc:sldChg>
      <pc:sldChg chg="delSp mod">
        <pc:chgData name="allie thakur" userId="f3e5fba7346f6fb8" providerId="LiveId" clId="{1C09B967-9617-4F33-9C41-D4A0CE5E31F0}" dt="2026-05-17T15:49:31.859" v="284" actId="478"/>
        <pc:sldMkLst>
          <pc:docMk/>
          <pc:sldMk cId="0" sldId="270"/>
        </pc:sldMkLst>
        <pc:spChg chg="del">
          <ac:chgData name="allie thakur" userId="f3e5fba7346f6fb8" providerId="LiveId" clId="{1C09B967-9617-4F33-9C41-D4A0CE5E31F0}" dt="2026-05-17T15:49:31.859" v="284" actId="478"/>
          <ac:spMkLst>
            <pc:docMk/>
            <pc:sldMk cId="0" sldId="270"/>
            <ac:spMk id="2" creationId="{00000000-0000-0000-0000-000000000000}"/>
          </ac:spMkLst>
        </pc:spChg>
        <pc:spChg chg="del">
          <ac:chgData name="allie thakur" userId="f3e5fba7346f6fb8" providerId="LiveId" clId="{1C09B967-9617-4F33-9C41-D4A0CE5E31F0}" dt="2026-05-17T15:49:28.349" v="283" actId="478"/>
          <ac:spMkLst>
            <pc:docMk/>
            <pc:sldMk cId="0" sldId="270"/>
            <ac:spMk id="3" creationId="{00000000-0000-0000-0000-000000000000}"/>
          </ac:spMkLst>
        </pc:spChg>
      </pc:sldChg>
      <pc:sldChg chg="modSp mod">
        <pc:chgData name="allie thakur" userId="f3e5fba7346f6fb8" providerId="LiveId" clId="{1C09B967-9617-4F33-9C41-D4A0CE5E31F0}" dt="2026-05-17T15:56:23.915" v="592" actId="20577"/>
        <pc:sldMkLst>
          <pc:docMk/>
          <pc:sldMk cId="0" sldId="271"/>
        </pc:sldMkLst>
        <pc:spChg chg="mod">
          <ac:chgData name="allie thakur" userId="f3e5fba7346f6fb8" providerId="LiveId" clId="{1C09B967-9617-4F33-9C41-D4A0CE5E31F0}" dt="2026-05-17T15:56:10.321" v="587" actId="20577"/>
          <ac:spMkLst>
            <pc:docMk/>
            <pc:sldMk cId="0" sldId="271"/>
            <ac:spMk id="7" creationId="{00000000-0000-0000-0000-000000000000}"/>
          </ac:spMkLst>
        </pc:spChg>
        <pc:spChg chg="mod">
          <ac:chgData name="allie thakur" userId="f3e5fba7346f6fb8" providerId="LiveId" clId="{1C09B967-9617-4F33-9C41-D4A0CE5E31F0}" dt="2026-05-17T15:56:20.055" v="590" actId="20577"/>
          <ac:spMkLst>
            <pc:docMk/>
            <pc:sldMk cId="0" sldId="271"/>
            <ac:spMk id="12" creationId="{00000000-0000-0000-0000-000000000000}"/>
          </ac:spMkLst>
        </pc:spChg>
        <pc:spChg chg="mod">
          <ac:chgData name="allie thakur" userId="f3e5fba7346f6fb8" providerId="LiveId" clId="{1C09B967-9617-4F33-9C41-D4A0CE5E31F0}" dt="2026-05-17T15:56:15.137" v="588" actId="20577"/>
          <ac:spMkLst>
            <pc:docMk/>
            <pc:sldMk cId="0" sldId="271"/>
            <ac:spMk id="17" creationId="{00000000-0000-0000-0000-000000000000}"/>
          </ac:spMkLst>
        </pc:spChg>
        <pc:spChg chg="mod">
          <ac:chgData name="allie thakur" userId="f3e5fba7346f6fb8" providerId="LiveId" clId="{1C09B967-9617-4F33-9C41-D4A0CE5E31F0}" dt="2026-05-17T15:56:22.124" v="591" actId="20577"/>
          <ac:spMkLst>
            <pc:docMk/>
            <pc:sldMk cId="0" sldId="271"/>
            <ac:spMk id="22" creationId="{00000000-0000-0000-0000-000000000000}"/>
          </ac:spMkLst>
        </pc:spChg>
        <pc:spChg chg="mod">
          <ac:chgData name="allie thakur" userId="f3e5fba7346f6fb8" providerId="LiveId" clId="{1C09B967-9617-4F33-9C41-D4A0CE5E31F0}" dt="2026-05-17T15:56:17.042" v="589" actId="20577"/>
          <ac:spMkLst>
            <pc:docMk/>
            <pc:sldMk cId="0" sldId="271"/>
            <ac:spMk id="27" creationId="{00000000-0000-0000-0000-000000000000}"/>
          </ac:spMkLst>
        </pc:spChg>
        <pc:spChg chg="mod">
          <ac:chgData name="allie thakur" userId="f3e5fba7346f6fb8" providerId="LiveId" clId="{1C09B967-9617-4F33-9C41-D4A0CE5E31F0}" dt="2026-05-17T15:56:23.915" v="592" actId="20577"/>
          <ac:spMkLst>
            <pc:docMk/>
            <pc:sldMk cId="0" sldId="271"/>
            <ac:spMk id="32" creationId="{00000000-0000-0000-0000-000000000000}"/>
          </ac:spMkLst>
        </pc:spChg>
      </pc:sldChg>
      <pc:sldChg chg="delSp modSp mod ord">
        <pc:chgData name="allie thakur" userId="f3e5fba7346f6fb8" providerId="LiveId" clId="{1C09B967-9617-4F33-9C41-D4A0CE5E31F0}" dt="2026-05-17T15:49:37.735" v="285" actId="478"/>
        <pc:sldMkLst>
          <pc:docMk/>
          <pc:sldMk cId="0" sldId="272"/>
        </pc:sldMkLst>
        <pc:spChg chg="del">
          <ac:chgData name="allie thakur" userId="f3e5fba7346f6fb8" providerId="LiveId" clId="{1C09B967-9617-4F33-9C41-D4A0CE5E31F0}" dt="2026-05-17T15:49:37.735" v="285" actId="478"/>
          <ac:spMkLst>
            <pc:docMk/>
            <pc:sldMk cId="0" sldId="272"/>
            <ac:spMk id="2" creationId="{00000000-0000-0000-0000-000000000000}"/>
          </ac:spMkLst>
        </pc:spChg>
        <pc:spChg chg="mod">
          <ac:chgData name="allie thakur" userId="f3e5fba7346f6fb8" providerId="LiveId" clId="{1C09B967-9617-4F33-9C41-D4A0CE5E31F0}" dt="2026-05-17T15:40:17.569" v="32" actId="20577"/>
          <ac:spMkLst>
            <pc:docMk/>
            <pc:sldMk cId="0" sldId="272"/>
            <ac:spMk id="17" creationId="{00000000-0000-0000-0000-000000000000}"/>
          </ac:spMkLst>
        </pc:spChg>
      </pc:sldChg>
      <pc:sldChg chg="delSp modSp mod">
        <pc:chgData name="allie thakur" userId="f3e5fba7346f6fb8" providerId="LiveId" clId="{1C09B967-9617-4F33-9C41-D4A0CE5E31F0}" dt="2026-05-17T15:51:35.793" v="486" actId="20577"/>
        <pc:sldMkLst>
          <pc:docMk/>
          <pc:sldMk cId="0" sldId="274"/>
        </pc:sldMkLst>
        <pc:spChg chg="del">
          <ac:chgData name="allie thakur" userId="f3e5fba7346f6fb8" providerId="LiveId" clId="{1C09B967-9617-4F33-9C41-D4A0CE5E31F0}" dt="2026-05-17T15:49:43.143" v="286" actId="478"/>
          <ac:spMkLst>
            <pc:docMk/>
            <pc:sldMk cId="0" sldId="274"/>
            <ac:spMk id="2" creationId="{00000000-0000-0000-0000-000000000000}"/>
          </ac:spMkLst>
        </pc:spChg>
        <pc:spChg chg="del">
          <ac:chgData name="allie thakur" userId="f3e5fba7346f6fb8" providerId="LiveId" clId="{1C09B967-9617-4F33-9C41-D4A0CE5E31F0}" dt="2026-05-17T15:49:45.126" v="287" actId="478"/>
          <ac:spMkLst>
            <pc:docMk/>
            <pc:sldMk cId="0" sldId="274"/>
            <ac:spMk id="3" creationId="{00000000-0000-0000-0000-000000000000}"/>
          </ac:spMkLst>
        </pc:spChg>
        <pc:spChg chg="mod">
          <ac:chgData name="allie thakur" userId="f3e5fba7346f6fb8" providerId="LiveId" clId="{1C09B967-9617-4F33-9C41-D4A0CE5E31F0}" dt="2026-05-17T15:49:50.497" v="326" actId="20577"/>
          <ac:spMkLst>
            <pc:docMk/>
            <pc:sldMk cId="0" sldId="274"/>
            <ac:spMk id="6" creationId="{00000000-0000-0000-0000-000000000000}"/>
          </ac:spMkLst>
        </pc:spChg>
        <pc:spChg chg="mod">
          <ac:chgData name="allie thakur" userId="f3e5fba7346f6fb8" providerId="LiveId" clId="{1C09B967-9617-4F33-9C41-D4A0CE5E31F0}" dt="2026-05-17T15:49:55.573" v="332" actId="20577"/>
          <ac:spMkLst>
            <pc:docMk/>
            <pc:sldMk cId="0" sldId="274"/>
            <ac:spMk id="11" creationId="{00000000-0000-0000-0000-000000000000}"/>
          </ac:spMkLst>
        </pc:spChg>
        <pc:spChg chg="mod">
          <ac:chgData name="allie thakur" userId="f3e5fba7346f6fb8" providerId="LiveId" clId="{1C09B967-9617-4F33-9C41-D4A0CE5E31F0}" dt="2026-05-17T15:50:13.341" v="374" actId="20577"/>
          <ac:spMkLst>
            <pc:docMk/>
            <pc:sldMk cId="0" sldId="274"/>
            <ac:spMk id="13" creationId="{00000000-0000-0000-0000-000000000000}"/>
          </ac:spMkLst>
        </pc:spChg>
        <pc:spChg chg="mod">
          <ac:chgData name="allie thakur" userId="f3e5fba7346f6fb8" providerId="LiveId" clId="{1C09B967-9617-4F33-9C41-D4A0CE5E31F0}" dt="2026-05-17T15:51:35.793" v="486" actId="20577"/>
          <ac:spMkLst>
            <pc:docMk/>
            <pc:sldMk cId="0" sldId="274"/>
            <ac:spMk id="1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29280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36576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14BD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SEMINAR 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266700" y="617982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Emotion</a:t>
            </a:r>
            <a:r>
              <a:rPr lang="en-US" sz="3400" dirty="0"/>
              <a:t> </a:t>
            </a: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</a:t>
            </a:r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</a:t>
            </a:r>
            <a:r>
              <a:rPr lang="en-US" sz="3400" dirty="0"/>
              <a:t> </a:t>
            </a: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&amp;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Techniques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365760" y="3003804"/>
            <a:ext cx="4023360" cy="438912"/>
          </a:xfrm>
          <a:prstGeom prst="rect">
            <a:avLst/>
          </a:prstGeom>
          <a:solidFill>
            <a:srgbClr val="0F2044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306933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D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Department: 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920240" y="307695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3675888"/>
            <a:ext cx="4023360" cy="438912"/>
          </a:xfrm>
          <a:prstGeom prst="rect">
            <a:avLst/>
          </a:prstGeom>
          <a:solidFill>
            <a:srgbClr val="0F2044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1" name="Text 9"/>
          <p:cNvSpPr/>
          <p:nvPr/>
        </p:nvSpPr>
        <p:spPr>
          <a:xfrm>
            <a:off x="457200" y="379704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D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19073" y="377037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4341876"/>
            <a:ext cx="4023360" cy="438912"/>
          </a:xfrm>
          <a:prstGeom prst="rect">
            <a:avLst/>
          </a:prstGeom>
          <a:solidFill>
            <a:srgbClr val="0F2044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4" name="Text 12"/>
          <p:cNvSpPr/>
          <p:nvPr/>
        </p:nvSpPr>
        <p:spPr>
          <a:xfrm>
            <a:off x="484391" y="4392168"/>
            <a:ext cx="242636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14BD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                              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Ms. Sandhya Kumari</a:t>
            </a:r>
            <a:r>
              <a:rPr lang="en-US" sz="1000" b="1" dirty="0">
                <a:solidFill>
                  <a:srgbClr val="14BD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126480" y="382219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12064" y="373532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D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43940" y="3743706"/>
            <a:ext cx="289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Allie Thakur, Kenesha Watt Q, Syed Anshu] | </a:t>
            </a:r>
          </a:p>
          <a:p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[1CR23AI003, 1CR23AI045, 1CR24AI408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804672"/>
          </a:xfrm>
          <a:prstGeom prst="rect">
            <a:avLst/>
          </a:prstGeom>
          <a:solidFill>
            <a:srgbClr val="14BDAC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Seminar Outline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28600" y="932688"/>
            <a:ext cx="4297680" cy="676656"/>
          </a:xfrm>
          <a:prstGeom prst="rect">
            <a:avLst/>
          </a:prstGeom>
          <a:solidFill>
            <a:srgbClr val="E8F4F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32688"/>
            <a:ext cx="475488" cy="676656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7" name="Text 5"/>
          <p:cNvSpPr/>
          <p:nvPr/>
        </p:nvSpPr>
        <p:spPr>
          <a:xfrm>
            <a:off x="237744" y="1097280"/>
            <a:ext cx="475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95528" y="98755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95528" y="12801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recognition, Affective Computing, HCI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28600" y="1737360"/>
            <a:ext cx="4297680" cy="676656"/>
          </a:xfrm>
          <a:prstGeom prst="rect">
            <a:avLst/>
          </a:prstGeom>
          <a:solidFill>
            <a:srgbClr val="E8F4F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" y="1737360"/>
            <a:ext cx="475488" cy="676656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2" name="Text 10"/>
          <p:cNvSpPr/>
          <p:nvPr/>
        </p:nvSpPr>
        <p:spPr>
          <a:xfrm>
            <a:off x="237744" y="1901952"/>
            <a:ext cx="475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95528" y="179222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MER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95528" y="20848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Unimodal vs Multimodal comparison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" y="2542032"/>
            <a:ext cx="4297680" cy="676656"/>
          </a:xfrm>
          <a:prstGeom prst="rect">
            <a:avLst/>
          </a:prstGeom>
          <a:solidFill>
            <a:srgbClr val="E8F4F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28600" y="2542032"/>
            <a:ext cx="475488" cy="676656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7" name="Text 15"/>
          <p:cNvSpPr/>
          <p:nvPr/>
        </p:nvSpPr>
        <p:spPr>
          <a:xfrm>
            <a:off x="237744" y="2706624"/>
            <a:ext cx="475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95528" y="259689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95528" y="288950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&amp; limitations in existing systems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28600" y="3346704"/>
            <a:ext cx="4297680" cy="676656"/>
          </a:xfrm>
          <a:prstGeom prst="rect">
            <a:avLst/>
          </a:prstGeom>
          <a:solidFill>
            <a:srgbClr val="E8F4F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28600" y="3346704"/>
            <a:ext cx="475488" cy="676656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2" name="Text 20"/>
          <p:cNvSpPr/>
          <p:nvPr/>
        </p:nvSpPr>
        <p:spPr>
          <a:xfrm>
            <a:off x="237744" y="3511296"/>
            <a:ext cx="475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95528" y="340156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95528" y="369417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Healthcare, Education, Robotics, AVs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28600" y="4151376"/>
            <a:ext cx="4297680" cy="676656"/>
          </a:xfrm>
          <a:prstGeom prst="rect">
            <a:avLst/>
          </a:prstGeom>
          <a:solidFill>
            <a:srgbClr val="E8F4F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28600" y="4151376"/>
            <a:ext cx="475488" cy="676656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7" name="Text 25"/>
          <p:cNvSpPr/>
          <p:nvPr/>
        </p:nvSpPr>
        <p:spPr>
          <a:xfrm>
            <a:off x="237744" y="4315968"/>
            <a:ext cx="475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95528" y="42062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 Pipeline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95528" y="44988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architecture flowchart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81728" y="932688"/>
            <a:ext cx="4297680" cy="676656"/>
          </a:xfrm>
          <a:prstGeom prst="rect">
            <a:avLst/>
          </a:prstGeom>
          <a:solidFill>
            <a:srgbClr val="E8F4F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81728" y="932688"/>
            <a:ext cx="475488" cy="676656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2" name="Text 30"/>
          <p:cNvSpPr/>
          <p:nvPr/>
        </p:nvSpPr>
        <p:spPr>
          <a:xfrm>
            <a:off x="4690872" y="1097280"/>
            <a:ext cx="475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248656" y="98755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248656" y="12801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IEMOCAP, CMU-MOSEI, RAVDESS, SAVEE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681728" y="1737360"/>
            <a:ext cx="4297680" cy="676656"/>
          </a:xfrm>
          <a:prstGeom prst="rect">
            <a:avLst/>
          </a:prstGeom>
          <a:solidFill>
            <a:srgbClr val="E8F4F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81728" y="1737360"/>
            <a:ext cx="475488" cy="676656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7" name="Text 35"/>
          <p:cNvSpPr/>
          <p:nvPr/>
        </p:nvSpPr>
        <p:spPr>
          <a:xfrm>
            <a:off x="4690872" y="1901952"/>
            <a:ext cx="475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248656" y="179222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248656" y="20848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Audio, Video, Text, Physiological features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681728" y="2542032"/>
            <a:ext cx="4297680" cy="676656"/>
          </a:xfrm>
          <a:prstGeom prst="rect">
            <a:avLst/>
          </a:prstGeom>
          <a:solidFill>
            <a:srgbClr val="E8F4F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681728" y="2542032"/>
            <a:ext cx="475488" cy="676656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2" name="Text 40"/>
          <p:cNvSpPr/>
          <p:nvPr/>
        </p:nvSpPr>
        <p:spPr>
          <a:xfrm>
            <a:off x="4690872" y="2706624"/>
            <a:ext cx="475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248656" y="259689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Models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5248656" y="288950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CNN, RNN, LSTM, Transformers, BERT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681728" y="3346704"/>
            <a:ext cx="4297680" cy="676656"/>
          </a:xfrm>
          <a:prstGeom prst="rect">
            <a:avLst/>
          </a:prstGeom>
          <a:solidFill>
            <a:srgbClr val="E8F4F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681728" y="3346704"/>
            <a:ext cx="475488" cy="676656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7" name="Text 45"/>
          <p:cNvSpPr/>
          <p:nvPr/>
        </p:nvSpPr>
        <p:spPr>
          <a:xfrm>
            <a:off x="4690872" y="3511296"/>
            <a:ext cx="475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248656" y="340156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Techniques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5248656" y="369417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Early, Late, Hybrid Fusion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681728" y="4151376"/>
            <a:ext cx="4297680" cy="676656"/>
          </a:xfrm>
          <a:prstGeom prst="rect">
            <a:avLst/>
          </a:prstGeom>
          <a:solidFill>
            <a:srgbClr val="E8F4F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681728" y="4151376"/>
            <a:ext cx="475488" cy="676656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52" name="Text 50"/>
          <p:cNvSpPr/>
          <p:nvPr/>
        </p:nvSpPr>
        <p:spPr>
          <a:xfrm>
            <a:off x="4690872" y="4315968"/>
            <a:ext cx="475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5248656" y="42062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Directions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5248656" y="44988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XAI, LLMs, Real-time MER, Future Scope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804672"/>
          </a:xfrm>
          <a:prstGeom prst="rect">
            <a:avLst/>
          </a:prstGeom>
          <a:solidFill>
            <a:srgbClr val="14BDAC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Emotion Recognition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91440" cy="1005840"/>
          </a:xfrm>
          <a:prstGeom prst="rect">
            <a:avLst/>
          </a:prstGeom>
          <a:solidFill>
            <a:srgbClr val="14BDAC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" y="99669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Emotion Recognition?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75488" y="1344168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identification of human emotional states from physiological, acoustic, or visual signals using AI/ML models.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2240280"/>
            <a:ext cx="91440" cy="1005840"/>
          </a:xfrm>
          <a:prstGeom prst="rect">
            <a:avLst/>
          </a:prstGeom>
          <a:solidFill>
            <a:srgbClr val="14BDAC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" y="227685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Affective Computing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75488" y="2624328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field bridging AI and psychology — enabling machines to sense, interpret, and respond to human emotions (Picard, 1997).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3520440"/>
            <a:ext cx="91440" cy="1005840"/>
          </a:xfrm>
          <a:prstGeom prst="rect">
            <a:avLst/>
          </a:prstGeom>
          <a:solidFill>
            <a:srgbClr val="14BDAC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" y="355701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in HCI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75488" y="3904488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Emotion-aware systems improve user experience in healthcare, education, robotics, and smart assistants.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577840" y="91440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Ekman's 6 Basic Emotions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577840" y="1325880"/>
            <a:ext cx="1572768" cy="658368"/>
          </a:xfrm>
          <a:prstGeom prst="rect">
            <a:avLst/>
          </a:prstGeom>
          <a:solidFill>
            <a:srgbClr val="E8B84B">
              <a:alpha val="80000"/>
            </a:srgbClr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577840" y="1472184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Happy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269480" y="1325880"/>
            <a:ext cx="1572768" cy="658368"/>
          </a:xfrm>
          <a:prstGeom prst="rect">
            <a:avLst/>
          </a:prstGeom>
          <a:solidFill>
            <a:srgbClr val="4A90D9">
              <a:alpha val="80000"/>
            </a:srgbClr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269480" y="1472184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577840" y="2167128"/>
            <a:ext cx="1572768" cy="658368"/>
          </a:xfrm>
          <a:prstGeom prst="rect">
            <a:avLst/>
          </a:prstGeom>
          <a:solidFill>
            <a:srgbClr val="E25B5B">
              <a:alpha val="80000"/>
            </a:srgbClr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577840" y="2313432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Angry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269480" y="2167128"/>
            <a:ext cx="1572768" cy="658368"/>
          </a:xfrm>
          <a:prstGeom prst="rect">
            <a:avLst/>
          </a:prstGeom>
          <a:solidFill>
            <a:srgbClr val="9B59B6">
              <a:alpha val="80000"/>
            </a:srgbClr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269480" y="2313432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Fear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577840" y="3008376"/>
            <a:ext cx="1572768" cy="658368"/>
          </a:xfrm>
          <a:prstGeom prst="rect">
            <a:avLst/>
          </a:prstGeom>
          <a:solidFill>
            <a:srgbClr val="2ECC71">
              <a:alpha val="80000"/>
            </a:srgbClr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577840" y="3154680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Disgust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269480" y="3008376"/>
            <a:ext cx="1572768" cy="658368"/>
          </a:xfrm>
          <a:prstGeom prst="rect">
            <a:avLst/>
          </a:prstGeom>
          <a:solidFill>
            <a:srgbClr val="E67E22">
              <a:alpha val="80000"/>
            </a:srgbClr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269480" y="3154680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Surprise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74320" y="482803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Ref: Picard, R.W. (1997). Affective Computing. MIT Press.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804672"/>
          </a:xfrm>
          <a:prstGeom prst="rect">
            <a:avLst/>
          </a:prstGeom>
          <a:solidFill>
            <a:srgbClr val="14BDAC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Multimodal Emotion Recognition?</a:t>
            </a:r>
            <a:endParaRPr lang="en-US" sz="2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298448"/>
          <a:ext cx="8595360" cy="29260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Unimodal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Multimodal MER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3E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signal (only audio OR video OR text)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Multiple signals combined (audio + video + text)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— typically 60–72%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 — typically 75–88%+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Robustness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Fails with noise in that one signal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Compensates via other modalities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— simpler architecture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 — requires fusion strategy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Real-world use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deployment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Preferred for production systems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4343400"/>
            <a:ext cx="2029968" cy="658368"/>
          </a:xfrm>
          <a:prstGeom prst="rect">
            <a:avLst/>
          </a:prstGeom>
          <a:solidFill>
            <a:srgbClr val="E25B5B">
              <a:alpha val="85000"/>
            </a:srgbClr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274320" y="4370832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Audio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74320" y="4645152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Pitch, MFCCs, Tone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450592" y="4343400"/>
            <a:ext cx="2029968" cy="658368"/>
          </a:xfrm>
          <a:prstGeom prst="rect">
            <a:avLst/>
          </a:prstGeom>
          <a:solidFill>
            <a:srgbClr val="4A90D9">
              <a:alpha val="85000"/>
            </a:srgbClr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2450592" y="4370832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Video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450592" y="4645152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Facial AU, Gaze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626864" y="4343400"/>
            <a:ext cx="2029968" cy="658368"/>
          </a:xfrm>
          <a:prstGeom prst="rect">
            <a:avLst/>
          </a:prstGeom>
          <a:solidFill>
            <a:srgbClr val="2ECC71">
              <a:alpha val="85000"/>
            </a:srgbClr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626864" y="4370832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626864" y="4645152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Sentiment, NLP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803136" y="4343400"/>
            <a:ext cx="2029968" cy="658368"/>
          </a:xfrm>
          <a:prstGeom prst="rect">
            <a:avLst/>
          </a:prstGeom>
          <a:solidFill>
            <a:srgbClr val="9B59B6">
              <a:alpha val="85000"/>
            </a:srgbClr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803136" y="4370832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Physio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803136" y="4645152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EEG, ECG, GSR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274320" y="4828032"/>
            <a:ext cx="85953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Ref: Wang et al. Neurocomputing, 2023 | Poria et al. KBS, 2022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14BDAC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8503920" cy="713232"/>
          </a:xfrm>
          <a:prstGeom prst="rect">
            <a:avLst/>
          </a:prstGeom>
          <a:solidFill>
            <a:srgbClr val="0F2044">
              <a:alpha val="8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822960"/>
            <a:ext cx="502920" cy="713232"/>
          </a:xfrm>
          <a:prstGeom prst="rect">
            <a:avLst/>
          </a:prstGeom>
          <a:solidFill>
            <a:srgbClr val="14BDAC"/>
          </a:solidFill>
          <a:ln/>
        </p:spPr>
      </p:sp>
      <p:sp>
        <p:nvSpPr>
          <p:cNvPr id="7" name="Text 5"/>
          <p:cNvSpPr/>
          <p:nvPr/>
        </p:nvSpPr>
        <p:spPr>
          <a:xfrm>
            <a:off x="329184" y="987552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32688" y="87782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D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Unimodal Limitations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32688" y="118872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Single-channel systems fail under noise, occlusion, or missing data — leading to inaccurate emotion labels.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1645920"/>
            <a:ext cx="8503920" cy="713232"/>
          </a:xfrm>
          <a:prstGeom prst="rect">
            <a:avLst/>
          </a:prstGeom>
          <a:solidFill>
            <a:srgbClr val="0F2044">
              <a:alpha val="8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1645920"/>
            <a:ext cx="502920" cy="713232"/>
          </a:xfrm>
          <a:prstGeom prst="rect">
            <a:avLst/>
          </a:prstGeom>
          <a:solidFill>
            <a:srgbClr val="14BDAC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" y="1810512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32688" y="170078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D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Cross-Domain Generalization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32688" y="201168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trained on lab datasets (IEMOCAP) degrade sharply on real-world uncontrolled environments.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468880"/>
            <a:ext cx="8503920" cy="713232"/>
          </a:xfrm>
          <a:prstGeom prst="rect">
            <a:avLst/>
          </a:prstGeom>
          <a:solidFill>
            <a:srgbClr val="0F2044">
              <a:alpha val="8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20040" y="2468880"/>
            <a:ext cx="502920" cy="713232"/>
          </a:xfrm>
          <a:prstGeom prst="rect">
            <a:avLst/>
          </a:prstGeom>
          <a:solidFill>
            <a:srgbClr val="14BDAC"/>
          </a:solidFill>
          <a:ln/>
        </p:spPr>
      </p:sp>
      <p:sp>
        <p:nvSpPr>
          <p:cNvPr id="17" name="Text 15"/>
          <p:cNvSpPr/>
          <p:nvPr/>
        </p:nvSpPr>
        <p:spPr>
          <a:xfrm>
            <a:off x="329184" y="2633472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32688" y="252374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D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Modality Problem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32688" y="283464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real deployments, one or more modalities may be unavailable — existing models cannot handle this gracefully.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3291840"/>
            <a:ext cx="8503920" cy="713232"/>
          </a:xfrm>
          <a:prstGeom prst="rect">
            <a:avLst/>
          </a:prstGeom>
          <a:solidFill>
            <a:srgbClr val="0F2044">
              <a:alpha val="8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320040" y="3291840"/>
            <a:ext cx="502920" cy="713232"/>
          </a:xfrm>
          <a:prstGeom prst="rect">
            <a:avLst/>
          </a:prstGeom>
          <a:solidFill>
            <a:srgbClr val="14BDAC"/>
          </a:solidFill>
          <a:ln/>
        </p:spPr>
      </p:sp>
      <p:sp>
        <p:nvSpPr>
          <p:cNvPr id="22" name="Text 20"/>
          <p:cNvSpPr/>
          <p:nvPr/>
        </p:nvSpPr>
        <p:spPr>
          <a:xfrm>
            <a:off x="329184" y="3456432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32688" y="334670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D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Explainability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32688" y="365760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DL models provide no insight into which modality or feature drove the emotion prediction.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4114800"/>
            <a:ext cx="8503920" cy="713232"/>
          </a:xfrm>
          <a:prstGeom prst="rect">
            <a:avLst/>
          </a:prstGeom>
          <a:solidFill>
            <a:srgbClr val="0F2044">
              <a:alpha val="8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20040" y="4114800"/>
            <a:ext cx="502920" cy="713232"/>
          </a:xfrm>
          <a:prstGeom prst="rect">
            <a:avLst/>
          </a:prstGeom>
          <a:solidFill>
            <a:srgbClr val="14BDAC"/>
          </a:solidFill>
          <a:ln/>
        </p:spPr>
      </p:sp>
      <p:sp>
        <p:nvSpPr>
          <p:cNvPr id="27" name="Text 25"/>
          <p:cNvSpPr/>
          <p:nvPr/>
        </p:nvSpPr>
        <p:spPr>
          <a:xfrm>
            <a:off x="329184" y="4279392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32688" y="416966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D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Constraints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32688" y="44805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Transformer-based fusion models are computationally heavy — unsuitable for edge and embedded deployment.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74320" y="482803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Ref: Lian et al. Neurocomputing 2023 | Ma et al. Applied Sciences 2024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804672"/>
          </a:xfrm>
          <a:prstGeom prst="rect">
            <a:avLst/>
          </a:prstGeom>
          <a:solidFill>
            <a:srgbClr val="14BDAC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of Multimodal Emotion Recognition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2743200" cy="1792224"/>
          </a:xfrm>
          <a:prstGeom prst="rect">
            <a:avLst/>
          </a:prstGeom>
          <a:solidFill>
            <a:srgbClr val="E8F4F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60120"/>
            <a:ext cx="2743200" cy="457200"/>
          </a:xfrm>
          <a:prstGeom prst="rect">
            <a:avLst/>
          </a:prstGeom>
          <a:solidFill>
            <a:srgbClr val="E25B5B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03327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508760"/>
            <a:ext cx="25603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Depression screening, pain monitoring, patient-doctor communication, mental health chatbots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172968" y="960120"/>
            <a:ext cx="2743200" cy="1792224"/>
          </a:xfrm>
          <a:prstGeom prst="rect">
            <a:avLst/>
          </a:prstGeom>
          <a:solidFill>
            <a:srgbClr val="E8F4F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72968" y="960120"/>
            <a:ext cx="2743200" cy="4572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1" name="Text 9"/>
          <p:cNvSpPr/>
          <p:nvPr/>
        </p:nvSpPr>
        <p:spPr>
          <a:xfrm>
            <a:off x="3264408" y="103327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Education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64408" y="1508760"/>
            <a:ext cx="25603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e-learning, student engagement detection, tutoring systems, classroom analytics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17336" y="960120"/>
            <a:ext cx="2743200" cy="1792224"/>
          </a:xfrm>
          <a:prstGeom prst="rect">
            <a:avLst/>
          </a:prstGeom>
          <a:solidFill>
            <a:srgbClr val="E8F4F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17336" y="960120"/>
            <a:ext cx="2743200" cy="45720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5" name="Text 13"/>
          <p:cNvSpPr/>
          <p:nvPr/>
        </p:nvSpPr>
        <p:spPr>
          <a:xfrm>
            <a:off x="6208776" y="103327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Robotics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08776" y="1508760"/>
            <a:ext cx="25603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robots, empathetic companions, assistive devices for elderly and differently-abled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28600" y="2953512"/>
            <a:ext cx="2743200" cy="1792224"/>
          </a:xfrm>
          <a:prstGeom prst="rect">
            <a:avLst/>
          </a:prstGeom>
          <a:solidFill>
            <a:srgbClr val="E8F4F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" y="2953512"/>
            <a:ext cx="2743200" cy="457200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" y="3026664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Vehicles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0040" y="3502152"/>
            <a:ext cx="25603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drowsiness &amp; stress monitoring, passenger experience, road safety systems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172968" y="2953512"/>
            <a:ext cx="2743200" cy="1792224"/>
          </a:xfrm>
          <a:prstGeom prst="rect">
            <a:avLst/>
          </a:prstGeom>
          <a:solidFill>
            <a:srgbClr val="E8F4F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72968" y="2953512"/>
            <a:ext cx="2743200" cy="457200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23" name="Text 21"/>
          <p:cNvSpPr/>
          <p:nvPr/>
        </p:nvSpPr>
        <p:spPr>
          <a:xfrm>
            <a:off x="3264408" y="3026664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Smart Assistants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64408" y="3502152"/>
            <a:ext cx="25603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Emotion-aware Siri/Alexa, personalized recommendations, sentiment-driven dialogue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117336" y="2953512"/>
            <a:ext cx="2743200" cy="1792224"/>
          </a:xfrm>
          <a:prstGeom prst="rect">
            <a:avLst/>
          </a:prstGeom>
          <a:solidFill>
            <a:srgbClr val="E8F4F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17336" y="2953512"/>
            <a:ext cx="2743200" cy="4572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7" name="Text 25"/>
          <p:cNvSpPr/>
          <p:nvPr/>
        </p:nvSpPr>
        <p:spPr>
          <a:xfrm>
            <a:off x="6208776" y="3026664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Entertainment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08776" y="3502152"/>
            <a:ext cx="25603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gaming, interactive storytelling, immersive VR/AR experiences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74320" y="482803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Ref: Ma et al. Applied Sciences 2024 | R1-Omni 2025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804672"/>
          </a:xfrm>
          <a:prstGeom prst="rect">
            <a:avLst/>
          </a:prstGeom>
          <a:solidFill>
            <a:srgbClr val="14BDAC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 Pipeline — End-to-End Architecture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1920240" cy="658368"/>
          </a:xfrm>
          <a:prstGeom prst="rect">
            <a:avLst/>
          </a:prstGeom>
          <a:solidFill>
            <a:srgbClr val="E25B5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96012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50592" y="914400"/>
            <a:ext cx="1920240" cy="658368"/>
          </a:xfrm>
          <a:prstGeom prst="rect">
            <a:avLst/>
          </a:prstGeom>
          <a:solidFill>
            <a:srgbClr val="4A90D9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50592" y="96012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26864" y="914400"/>
            <a:ext cx="1920240" cy="658368"/>
          </a:xfrm>
          <a:prstGeom prst="rect">
            <a:avLst/>
          </a:prstGeom>
          <a:solidFill>
            <a:srgbClr val="2ECC71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26864" y="96012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/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03136" y="914400"/>
            <a:ext cx="1920240" cy="658368"/>
          </a:xfrm>
          <a:prstGeom prst="rect">
            <a:avLst/>
          </a:prstGeom>
          <a:solidFill>
            <a:srgbClr val="9B59B6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03136" y="96012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Physiological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" y="1627632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Feature Extraction (MFCCs / CNNs / BERT / EEG Features)  ▼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057400"/>
            <a:ext cx="1920240" cy="749808"/>
          </a:xfrm>
          <a:prstGeom prst="rect">
            <a:avLst/>
          </a:prstGeom>
          <a:solidFill>
            <a:srgbClr val="C0392B">
              <a:alpha val="85000"/>
            </a:srgbClr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74320" y="2084832"/>
            <a:ext cx="19202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MFCC / Spectrogram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OpenSMILE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450592" y="2057400"/>
            <a:ext cx="1920240" cy="749808"/>
          </a:xfrm>
          <a:prstGeom prst="rect">
            <a:avLst/>
          </a:prstGeom>
          <a:solidFill>
            <a:srgbClr val="1A5276">
              <a:alpha val="85000"/>
            </a:srgbClr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450592" y="2084832"/>
            <a:ext cx="19202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/ ResNet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Facial AUs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26864" y="2057400"/>
            <a:ext cx="1920240" cy="749808"/>
          </a:xfrm>
          <a:prstGeom prst="rect">
            <a:avLst/>
          </a:prstGeom>
          <a:solidFill>
            <a:srgbClr val="1A5C35">
              <a:alpha val="85000"/>
            </a:srgbClr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626864" y="2084832"/>
            <a:ext cx="19202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/ RoBERTa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03136" y="2057400"/>
            <a:ext cx="1920240" cy="749808"/>
          </a:xfrm>
          <a:prstGeom prst="rect">
            <a:avLst/>
          </a:prstGeom>
          <a:solidFill>
            <a:srgbClr val="5B2C6F">
              <a:alpha val="85000"/>
            </a:srgbClr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803136" y="2084832"/>
            <a:ext cx="19202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/ ECG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BioSignal CNN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4320" y="2871216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4BD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Fusion Layer (Early / Late / Hybrid)  ▼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371600" y="3291840"/>
            <a:ext cx="3657600" cy="640080"/>
          </a:xfrm>
          <a:prstGeom prst="rect">
            <a:avLst/>
          </a:prstGeom>
          <a:solidFill>
            <a:srgbClr val="0D737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371600" y="3319272"/>
            <a:ext cx="3657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Module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(Attention / Concat / Weighted)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74920" y="3401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4BD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5577840" y="3291840"/>
            <a:ext cx="2926080" cy="640080"/>
          </a:xfrm>
          <a:prstGeom prst="rect">
            <a:avLst/>
          </a:prstGeom>
          <a:solidFill>
            <a:srgbClr val="6C3E9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577840" y="3319272"/>
            <a:ext cx="29260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Output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Angry / Happy / Sad / Fear…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74320" y="482803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Ref: Deep CNN Late Fusion — Expert Systems With Applications 2024 | KBS 2022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804672"/>
          </a:xfrm>
          <a:prstGeom prst="rect">
            <a:avLst/>
          </a:prstGeom>
          <a:solidFill>
            <a:srgbClr val="14BDAC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Datasets in MER</a:t>
            </a:r>
            <a:endParaRPr lang="en-US" sz="2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96112"/>
          <a:ext cx="8595360" cy="3675888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126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Modalities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 Samples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Emotion Classes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6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IEMOCAP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Audio + Video + 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10,039 utterances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Anger, Happiness, Sadness, Neutral, Frustration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6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CMU-MOSEI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Audio + Video + 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23,453 utterances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emotions + Sentiment score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26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RAVDESS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Audio + Video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7,356 recordings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emotions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6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SAVEE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Audio + Video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480 utterances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emotions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 (Male)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26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EEG + Physiological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participants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Valence / Arousal / Dominance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482803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Ref: Lian et al. Neurocomputing 2023 | Poria et al. Entropy 2023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804672"/>
          </a:xfrm>
          <a:prstGeom prst="rect">
            <a:avLst/>
          </a:prstGeom>
          <a:solidFill>
            <a:srgbClr val="14BDAC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 Techniques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28600" y="886968"/>
            <a:ext cx="2029968" cy="4069080"/>
          </a:xfrm>
          <a:prstGeom prst="rect">
            <a:avLst/>
          </a:prstGeom>
          <a:solidFill>
            <a:srgbClr val="E8F4F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86968"/>
            <a:ext cx="2029968" cy="457200"/>
          </a:xfrm>
          <a:prstGeom prst="rect">
            <a:avLst/>
          </a:prstGeom>
          <a:solidFill>
            <a:srgbClr val="E25B5B"/>
          </a:solidFill>
          <a:ln/>
        </p:spPr>
      </p:sp>
      <p:sp>
        <p:nvSpPr>
          <p:cNvPr id="7" name="Text 5"/>
          <p:cNvSpPr/>
          <p:nvPr/>
        </p:nvSpPr>
        <p:spPr>
          <a:xfrm>
            <a:off x="301752" y="896112"/>
            <a:ext cx="1901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Audio Features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20040" y="1408176"/>
            <a:ext cx="1865376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MFCCs — Mel Frequency Cepstral Coefficients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Spectrogram — time-frequency representation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Pitch, Energy, Zero Crossing Rate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 features, Spectral centroid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OpenSMILE feature set (6,373 features)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41448" y="886968"/>
            <a:ext cx="2029968" cy="4069080"/>
          </a:xfrm>
          <a:prstGeom prst="rect">
            <a:avLst/>
          </a:prstGeom>
          <a:solidFill>
            <a:srgbClr val="E8F4F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41448" y="886968"/>
            <a:ext cx="2029968" cy="4572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1" name="Text 9"/>
          <p:cNvSpPr/>
          <p:nvPr/>
        </p:nvSpPr>
        <p:spPr>
          <a:xfrm>
            <a:off x="2514600" y="896112"/>
            <a:ext cx="1901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Features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532888" y="1408176"/>
            <a:ext cx="1865376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Facial Action Units (FACS system)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 — Histogram of Oriented Gradients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 direction &amp; head pose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facial landmarks (68-point)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CNN-extracted deep visual features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54296" y="886968"/>
            <a:ext cx="2029968" cy="4069080"/>
          </a:xfrm>
          <a:prstGeom prst="rect">
            <a:avLst/>
          </a:prstGeom>
          <a:solidFill>
            <a:srgbClr val="E8F4F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54296" y="886968"/>
            <a:ext cx="2029968" cy="45720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5" name="Text 13"/>
          <p:cNvSpPr/>
          <p:nvPr/>
        </p:nvSpPr>
        <p:spPr>
          <a:xfrm>
            <a:off x="4727448" y="896112"/>
            <a:ext cx="1901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Text Features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45736" y="1408176"/>
            <a:ext cx="1865376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embeddings — Word2Vec, GloVe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/ RoBERTa contextual embeddings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TF-IDF, N-gram features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polarity scores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parse trees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867144" y="886968"/>
            <a:ext cx="2029968" cy="4069080"/>
          </a:xfrm>
          <a:prstGeom prst="rect">
            <a:avLst/>
          </a:prstGeom>
          <a:solidFill>
            <a:srgbClr val="E8F4F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67144" y="886968"/>
            <a:ext cx="2029968" cy="457200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19" name="Text 17"/>
          <p:cNvSpPr/>
          <p:nvPr/>
        </p:nvSpPr>
        <p:spPr>
          <a:xfrm>
            <a:off x="6940296" y="896112"/>
            <a:ext cx="1901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Physiological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958584" y="1408176"/>
            <a:ext cx="1865376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power spectral density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Rate Variability (HRV)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Galvanic Skin Response (GSR)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EMG — facial muscle activity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Volume Pulse (BVP)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74320" y="482803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Ref: Lian et al. Neurocomputing 2023 | Poria et al. Entropy 2023 | Ma et al. Applied Sciences 2024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804672"/>
          </a:xfrm>
          <a:prstGeom prst="rect">
            <a:avLst/>
          </a:prstGeom>
          <a:solidFill>
            <a:srgbClr val="14BDAC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Models for Emotion Recognition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28600" y="886968"/>
            <a:ext cx="2029968" cy="4069080"/>
          </a:xfrm>
          <a:prstGeom prst="rect">
            <a:avLst/>
          </a:prstGeom>
          <a:solidFill>
            <a:srgbClr val="E8F4F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86968"/>
            <a:ext cx="2029968" cy="548640"/>
          </a:xfrm>
          <a:prstGeom prst="rect">
            <a:avLst/>
          </a:prstGeom>
          <a:solidFill>
            <a:srgbClr val="E25B5B"/>
          </a:solidFill>
          <a:ln/>
        </p:spPr>
      </p:sp>
      <p:sp>
        <p:nvSpPr>
          <p:cNvPr id="7" name="Text 5"/>
          <p:cNvSpPr/>
          <p:nvPr/>
        </p:nvSpPr>
        <p:spPr>
          <a:xfrm>
            <a:off x="301752" y="896112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01752" y="1481328"/>
            <a:ext cx="1901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E2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Convolutional Neural Network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38328" y="1874520"/>
            <a:ext cx="18288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local spatial features from spectrograms &amp; facial images via convolutional filters. Used as first-stage encoder in MER pipelines.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8328" y="3840480"/>
            <a:ext cx="1828800" cy="292608"/>
          </a:xfrm>
          <a:prstGeom prst="rect">
            <a:avLst/>
          </a:prstGeom>
          <a:solidFill>
            <a:srgbClr val="E25B5B">
              <a:alpha val="8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338328" y="38404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Audio &amp; Video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41448" y="886968"/>
            <a:ext cx="2029968" cy="4069080"/>
          </a:xfrm>
          <a:prstGeom prst="rect">
            <a:avLst/>
          </a:prstGeom>
          <a:solidFill>
            <a:srgbClr val="E8F4F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41448" y="886968"/>
            <a:ext cx="2029968" cy="54864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4" name="Text 12"/>
          <p:cNvSpPr/>
          <p:nvPr/>
        </p:nvSpPr>
        <p:spPr>
          <a:xfrm>
            <a:off x="2514600" y="896112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514600" y="1481328"/>
            <a:ext cx="1901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Recurrent Neural Network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551176" y="1874520"/>
            <a:ext cx="18288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sequential temporal dependencies in speech and video streams. Predecessor to LSTM — suffers from vanishing gradient.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551176" y="3840480"/>
            <a:ext cx="1828800" cy="292608"/>
          </a:xfrm>
          <a:prstGeom prst="rect">
            <a:avLst/>
          </a:prstGeom>
          <a:solidFill>
            <a:srgbClr val="4A90D9">
              <a:alpha val="8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2551176" y="38404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Audio &amp; Text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54296" y="886968"/>
            <a:ext cx="2029968" cy="4069080"/>
          </a:xfrm>
          <a:prstGeom prst="rect">
            <a:avLst/>
          </a:prstGeom>
          <a:solidFill>
            <a:srgbClr val="E8F4F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54296" y="886968"/>
            <a:ext cx="2029968" cy="54864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21" name="Text 19"/>
          <p:cNvSpPr/>
          <p:nvPr/>
        </p:nvSpPr>
        <p:spPr>
          <a:xfrm>
            <a:off x="4727448" y="896112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4727448" y="1481328"/>
            <a:ext cx="1901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Short-Term Memory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64024" y="1874520"/>
            <a:ext cx="18288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 RNN variant that retains long-range context. Widely used for temporal emotion dynamics in speech and dialogue sequences.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64024" y="3840480"/>
            <a:ext cx="1828800" cy="292608"/>
          </a:xfrm>
          <a:prstGeom prst="rect">
            <a:avLst/>
          </a:prstGeom>
          <a:solidFill>
            <a:srgbClr val="2ECC71">
              <a:alpha val="8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764024" y="38404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Audio &amp; Text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867144" y="886968"/>
            <a:ext cx="2029968" cy="4069080"/>
          </a:xfrm>
          <a:prstGeom prst="rect">
            <a:avLst/>
          </a:prstGeom>
          <a:solidFill>
            <a:srgbClr val="E8F4F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867144" y="886968"/>
            <a:ext cx="2029968" cy="548640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28" name="Text 26"/>
          <p:cNvSpPr/>
          <p:nvPr/>
        </p:nvSpPr>
        <p:spPr>
          <a:xfrm>
            <a:off x="6940296" y="896112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6940296" y="1481328"/>
            <a:ext cx="1901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 Transformer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976872" y="1874520"/>
            <a:ext cx="18288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Attends to all positions simultaneously. Captures global context — basis for BERT, wav2vec 2.0, and ViT. State-of-the-art backbone.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976872" y="3840480"/>
            <a:ext cx="1828800" cy="292608"/>
          </a:xfrm>
          <a:prstGeom prst="rect">
            <a:avLst/>
          </a:prstGeom>
          <a:solidFill>
            <a:srgbClr val="9B59B6">
              <a:alpha val="8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6976872" y="38404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All Modalities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74320" y="482803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Ref: Poria et al. Entropy 2023 | Deep CNN Late Fusion — ESWA 2024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804672"/>
          </a:xfrm>
          <a:prstGeom prst="rect">
            <a:avLst/>
          </a:prstGeom>
          <a:solidFill>
            <a:srgbClr val="14BDAC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&amp; Transfer Learning in MER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274320" y="93268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in Multimodal Emotion Recognition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1353312"/>
            <a:ext cx="49377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= Bidirectional Encoder Representations from Transformers (Google, 2018)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on 3.3B words — captures deep semantic &amp; contextual language features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on emotion datasets to extract text-modality embeddings for MER fusion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Outperforms TF-IDF and Word2Vec for utterance-level emotion classification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Variants: RoBERTa, DistilBERT, ALBERT — optimized for speed vs. accuracy trade-offs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577840" y="93268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C3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Pipeline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0" y="1371600"/>
            <a:ext cx="3383280" cy="658368"/>
          </a:xfrm>
          <a:prstGeom prst="rect">
            <a:avLst/>
          </a:prstGeom>
          <a:solidFill>
            <a:srgbClr val="4A90D9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577840" y="14173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Model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577840" y="16916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 / LibriSpeech / BookCorpus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0" y="2048256"/>
            <a:ext cx="731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0" y="2212848"/>
            <a:ext cx="3383280" cy="658368"/>
          </a:xfrm>
          <a:prstGeom prst="rect">
            <a:avLst/>
          </a:prstGeom>
          <a:solidFill>
            <a:srgbClr val="2ECC71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577840" y="22585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577840" y="25328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dataset (IEMOCAP, RAVDESS)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858000" y="2889504"/>
            <a:ext cx="731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0" y="3054096"/>
            <a:ext cx="3383280" cy="658368"/>
          </a:xfrm>
          <a:prstGeom prst="rect">
            <a:avLst/>
          </a:prstGeom>
          <a:solidFill>
            <a:srgbClr val="E8B84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577840" y="309981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577840" y="337413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backbone, train classifier head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858000" y="3730752"/>
            <a:ext cx="731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0" y="3895344"/>
            <a:ext cx="3383280" cy="658368"/>
          </a:xfrm>
          <a:prstGeom prst="rect">
            <a:avLst/>
          </a:prstGeom>
          <a:solidFill>
            <a:srgbClr val="E25B5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577840" y="394106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MER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577840" y="421538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emotion prediction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3977640"/>
            <a:ext cx="4937760" cy="749808"/>
          </a:xfrm>
          <a:prstGeom prst="rect">
            <a:avLst/>
          </a:prstGeom>
          <a:solidFill>
            <a:srgbClr val="E8F4F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84048" y="404164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Recognition + BERT (Ref Paper 7, 2022):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84048" y="4297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from speaker ID models provides prosody-aware audio features; combined with BERT text embeddings yields strong MER fusion baseline.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74320" y="482803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Ref: Transfer Learning from Speaker Recog. &amp; BERT (2022) | Poria et al. Entropy 2023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804672"/>
          </a:xfrm>
          <a:prstGeom prst="rect">
            <a:avLst/>
          </a:prstGeom>
          <a:solidFill>
            <a:srgbClr val="14BDAC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Techniques in Multimodal MER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28600" y="886968"/>
            <a:ext cx="2743200" cy="4069080"/>
          </a:xfrm>
          <a:prstGeom prst="rect">
            <a:avLst/>
          </a:prstGeom>
          <a:solidFill>
            <a:srgbClr val="E8F4F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86968"/>
            <a:ext cx="2743200" cy="475488"/>
          </a:xfrm>
          <a:prstGeom prst="rect">
            <a:avLst/>
          </a:prstGeom>
          <a:solidFill>
            <a:srgbClr val="E25B5B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905256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Fusion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" y="1444752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Feature-level fusion — raw or extracted features from all modalities are concatenated before feeding into a single classifier.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" y="2674620"/>
            <a:ext cx="2331720" cy="352044"/>
          </a:xfrm>
          <a:prstGeom prst="rect">
            <a:avLst/>
          </a:prstGeom>
          <a:solidFill>
            <a:srgbClr val="27AE60">
              <a:alpha val="8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2532888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5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Simple architecture, shared representation learning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" y="3250692"/>
            <a:ext cx="2171700" cy="361188"/>
          </a:xfrm>
          <a:prstGeom prst="rect">
            <a:avLst/>
          </a:prstGeom>
          <a:solidFill>
            <a:srgbClr val="E74C3C">
              <a:alpha val="8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" y="3154680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High-dimensional input; noise from one modality affects all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01752" y="3767328"/>
            <a:ext cx="2615184" cy="502920"/>
          </a:xfrm>
          <a:prstGeom prst="rect">
            <a:avLst/>
          </a:prstGeom>
          <a:solidFill>
            <a:srgbClr val="E25B5B">
              <a:alpha val="2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" y="3776472"/>
            <a:ext cx="25786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Concatenate MFCC + HOG + BERT embedding → Dense Layer → Softmax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172968" y="886968"/>
            <a:ext cx="2743200" cy="4069080"/>
          </a:xfrm>
          <a:prstGeom prst="rect">
            <a:avLst/>
          </a:prstGeom>
          <a:solidFill>
            <a:srgbClr val="E8F4F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72968" y="886968"/>
            <a:ext cx="2743200" cy="47548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7" name="Text 15"/>
          <p:cNvSpPr/>
          <p:nvPr/>
        </p:nvSpPr>
        <p:spPr>
          <a:xfrm>
            <a:off x="3264408" y="905256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Fusion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64408" y="1444752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Decision-level fusion — each modality has its own classifier; outputs (scores/predictions) are combined via voting, averaging, or learned weights.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79648" y="2683764"/>
            <a:ext cx="2130552" cy="256032"/>
          </a:xfrm>
          <a:prstGeom prst="rect">
            <a:avLst/>
          </a:prstGeom>
          <a:solidFill>
            <a:srgbClr val="27AE60">
              <a:alpha val="8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3264408" y="2532888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5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Modality-independent; handles missing modalities gracefully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79648" y="3250692"/>
            <a:ext cx="2351532" cy="356616"/>
          </a:xfrm>
          <a:prstGeom prst="rect">
            <a:avLst/>
          </a:prstGeom>
          <a:solidFill>
            <a:srgbClr val="E74C3C">
              <a:alpha val="8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3264408" y="3154680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Loses inter-modal correlations; sub-optimal joint features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46120" y="3767328"/>
            <a:ext cx="2615184" cy="502920"/>
          </a:xfrm>
          <a:prstGeom prst="rect">
            <a:avLst/>
          </a:prstGeom>
          <a:solidFill>
            <a:srgbClr val="4A90D9">
              <a:alpha val="2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3264408" y="3776472"/>
            <a:ext cx="25786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Audio CNN score + Video CNN score + Text BERT score → Weighted Average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117336" y="886968"/>
            <a:ext cx="2743200" cy="4069080"/>
          </a:xfrm>
          <a:prstGeom prst="rect">
            <a:avLst/>
          </a:prstGeom>
          <a:solidFill>
            <a:srgbClr val="E8F4F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17336" y="886968"/>
            <a:ext cx="2743200" cy="475488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27" name="Text 25"/>
          <p:cNvSpPr/>
          <p:nvPr/>
        </p:nvSpPr>
        <p:spPr>
          <a:xfrm>
            <a:off x="6208776" y="905256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Fusion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208776" y="1444752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early and late fusion — some modalities share intermediate representations while final decisions are fused. Attention mechanisms often guide fusion.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208776" y="2619756"/>
            <a:ext cx="2401824" cy="361188"/>
          </a:xfrm>
          <a:prstGeom prst="rect">
            <a:avLst/>
          </a:prstGeom>
          <a:solidFill>
            <a:srgbClr val="27AE60">
              <a:alpha val="8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208776" y="2532888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5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Best of both; attention highlights informative modalities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208776" y="3291840"/>
            <a:ext cx="2401824" cy="256032"/>
          </a:xfrm>
          <a:prstGeom prst="rect">
            <a:avLst/>
          </a:prstGeom>
          <a:solidFill>
            <a:srgbClr val="E74C3C">
              <a:alpha val="8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6208776" y="3154680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Complex design; higher computational cost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190488" y="3767328"/>
            <a:ext cx="2615184" cy="502920"/>
          </a:xfrm>
          <a:prstGeom prst="rect">
            <a:avLst/>
          </a:prstGeom>
          <a:solidFill>
            <a:srgbClr val="2ECC71">
              <a:alpha val="25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6208776" y="3776472"/>
            <a:ext cx="25786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Audio–Text early fusion + Video late fusion + Cross-modal Attention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74320" y="482803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Ref: Deep CNN Late Fusion — ESWA 2024 | Deep Learning Audio-Visual — KBS 2022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804672"/>
          </a:xfrm>
          <a:prstGeom prst="rect">
            <a:avLst/>
          </a:prstGeom>
          <a:solidFill>
            <a:srgbClr val="14BDAC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&amp; Reinforcement Learning in MER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274320" y="93268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(XAI) in MER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1353312"/>
            <a:ext cx="42976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DL models lack interpretability — critical in healthcare &amp; HCI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values attribute prediction to individual modality features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maps visualize which frames / words drove the emotion label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highlights facial regions (e.g., eye corners, mouth) used by CNN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builds user trust &amp; enables model debugging and bias detection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937760" y="886968"/>
            <a:ext cx="3931920" cy="4069080"/>
          </a:xfrm>
          <a:prstGeom prst="rect">
            <a:avLst/>
          </a:prstGeom>
          <a:solidFill>
            <a:srgbClr val="E8F4F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937760" y="886968"/>
            <a:ext cx="3931920" cy="457200"/>
          </a:xfrm>
          <a:prstGeom prst="rect">
            <a:avLst/>
          </a:prstGeom>
          <a:solidFill>
            <a:srgbClr val="6C3E9E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905256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R1-Omni (2025) — Spotlight Paper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0" y="1444752"/>
            <a:ext cx="1325880" cy="420624"/>
          </a:xfrm>
          <a:prstGeom prst="rect">
            <a:avLst/>
          </a:prstGeom>
          <a:solidFill>
            <a:srgbClr val="6C3E9E">
              <a:alpha val="7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47488" y="1499616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Type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00800" y="1499616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Omni-multimodal (Audio+Video+Text)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0" y="1975104"/>
            <a:ext cx="1325880" cy="420624"/>
          </a:xfrm>
          <a:prstGeom prst="rect">
            <a:avLst/>
          </a:prstGeom>
          <a:solidFill>
            <a:srgbClr val="6C3E9E">
              <a:alpha val="7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047488" y="2029968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Algorithm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400800" y="202996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GRPO — Group Relative Policy Optimization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0" y="2505456"/>
            <a:ext cx="1325880" cy="420624"/>
          </a:xfrm>
          <a:prstGeom prst="rect">
            <a:avLst/>
          </a:prstGeom>
          <a:solidFill>
            <a:srgbClr val="6C3E9E">
              <a:alpha val="7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047488" y="2560320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400800" y="25603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textual reasoning chains explaining emotion prediction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29200" y="3035808"/>
            <a:ext cx="1325880" cy="420624"/>
          </a:xfrm>
          <a:prstGeom prst="rect">
            <a:avLst/>
          </a:prstGeom>
          <a:solidFill>
            <a:srgbClr val="6C3E9E">
              <a:alpha val="7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5047488" y="3090672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400800" y="309067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 (CoT) rationale per prediction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29200" y="3566160"/>
            <a:ext cx="1325880" cy="420624"/>
          </a:xfrm>
          <a:prstGeom prst="rect">
            <a:avLst/>
          </a:prstGeom>
          <a:solidFill>
            <a:srgbClr val="6C3E9E">
              <a:alpha val="7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047488" y="3621024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400800" y="3621024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State-of-the-art on IEMOCAP, CMU-MOSEI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029200" y="4096512"/>
            <a:ext cx="1325880" cy="420624"/>
          </a:xfrm>
          <a:prstGeom prst="rect">
            <a:avLst/>
          </a:prstGeom>
          <a:solidFill>
            <a:srgbClr val="6C3E9E">
              <a:alpha val="7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5047488" y="4151376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Important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400800" y="4151376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RL-based XAI approach for end-to-end MER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74320" y="482803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Ref: R1-Omni (2025) | Systematic Survey — Intelligent Systems with Applications 2023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804672"/>
          </a:xfrm>
          <a:prstGeom prst="rect">
            <a:avLst/>
          </a:prstGeom>
          <a:solidFill>
            <a:srgbClr val="14BDAC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Analysis of Research Papers</a:t>
            </a:r>
            <a:endParaRPr lang="en-US" sz="2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96112"/>
          <a:ext cx="8595360" cy="393192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914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/ Authors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Modalities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/ Approach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Acc.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Poria et al. (KBS)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Audio+Video+Text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Model-Level Fusion DL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IEMOCAP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Wang et al. (Neurocomp)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Audio+Video+Text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Survey + CNN/LSTM Review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Poria et al. (Entropy)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Speech+Text+Face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Survey — CNN/BERT/TF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 et al. (App. Sci.)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Visual+Vocal+Physio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— DL methods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ESWA 2024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Audio+Video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CNN Late Fusion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RAVDESS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R1-Omni (2025)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Audio+Video+Text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RL + Omni VLM + XAI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IEMOCAP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JER 2025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CNN System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CMU-MOSEI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482803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All 9 cited papers — see References slide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14BDAC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109728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in Multimodal Emotion Recognition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4251960" cy="1188720"/>
          </a:xfrm>
          <a:prstGeom prst="rect">
            <a:avLst/>
          </a:prstGeom>
          <a:solidFill>
            <a:srgbClr val="0F2044">
              <a:alpha val="8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868680"/>
            <a:ext cx="502920" cy="1188720"/>
          </a:xfrm>
          <a:prstGeom prst="rect">
            <a:avLst/>
          </a:prstGeom>
          <a:solidFill>
            <a:srgbClr val="14BDAC"/>
          </a:solidFill>
          <a:ln/>
        </p:spPr>
      </p:sp>
      <p:sp>
        <p:nvSpPr>
          <p:cNvPr id="8" name="Text 6"/>
          <p:cNvSpPr/>
          <p:nvPr/>
        </p:nvSpPr>
        <p:spPr>
          <a:xfrm>
            <a:off x="338328" y="1252728"/>
            <a:ext cx="502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9601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BD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&amp; Signal Quality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14400" y="1344168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Audio/video corrupted by background noise and occlusion degrades model accuracy significantly.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868680"/>
            <a:ext cx="4251960" cy="1188720"/>
          </a:xfrm>
          <a:prstGeom prst="rect">
            <a:avLst/>
          </a:prstGeom>
          <a:solidFill>
            <a:srgbClr val="0F2044">
              <a:alpha val="8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754880" y="868680"/>
            <a:ext cx="502920" cy="1188720"/>
          </a:xfrm>
          <a:prstGeom prst="rect">
            <a:avLst/>
          </a:prstGeom>
          <a:solidFill>
            <a:srgbClr val="14BDAC"/>
          </a:solidFill>
          <a:ln/>
        </p:spPr>
      </p:sp>
      <p:sp>
        <p:nvSpPr>
          <p:cNvPr id="13" name="Text 11"/>
          <p:cNvSpPr/>
          <p:nvPr/>
        </p:nvSpPr>
        <p:spPr>
          <a:xfrm>
            <a:off x="4773168" y="1252728"/>
            <a:ext cx="502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49240" y="9601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BD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Modalities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349240" y="1344168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scenarios often lack one modality — models must remain robust to partial inputs.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221992"/>
            <a:ext cx="4251960" cy="1188720"/>
          </a:xfrm>
          <a:prstGeom prst="rect">
            <a:avLst/>
          </a:prstGeom>
          <a:solidFill>
            <a:srgbClr val="0F2044">
              <a:alpha val="8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20040" y="2221992"/>
            <a:ext cx="502920" cy="1188720"/>
          </a:xfrm>
          <a:prstGeom prst="rect">
            <a:avLst/>
          </a:prstGeom>
          <a:solidFill>
            <a:srgbClr val="14BDAC"/>
          </a:solidFill>
          <a:ln/>
        </p:spPr>
      </p:sp>
      <p:sp>
        <p:nvSpPr>
          <p:cNvPr id="18" name="Text 16"/>
          <p:cNvSpPr/>
          <p:nvPr/>
        </p:nvSpPr>
        <p:spPr>
          <a:xfrm>
            <a:off x="338328" y="2606040"/>
            <a:ext cx="502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231343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BD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Bias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14400" y="2697480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datasets are lab-recorded with actors — models fail to generalize to natural, spontaneous expressions.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2221992"/>
            <a:ext cx="4251960" cy="1188720"/>
          </a:xfrm>
          <a:prstGeom prst="rect">
            <a:avLst/>
          </a:prstGeom>
          <a:solidFill>
            <a:srgbClr val="0F2044">
              <a:alpha val="8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754880" y="2221992"/>
            <a:ext cx="502920" cy="1188720"/>
          </a:xfrm>
          <a:prstGeom prst="rect">
            <a:avLst/>
          </a:prstGeom>
          <a:solidFill>
            <a:srgbClr val="14BDAC"/>
          </a:solidFill>
          <a:ln/>
        </p:spPr>
      </p:sp>
      <p:sp>
        <p:nvSpPr>
          <p:cNvPr id="23" name="Text 21"/>
          <p:cNvSpPr/>
          <p:nvPr/>
        </p:nvSpPr>
        <p:spPr>
          <a:xfrm>
            <a:off x="4773168" y="2606040"/>
            <a:ext cx="502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49240" y="231343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BD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349240" y="2697480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emotion dominates most datasets — models biased toward predicting neutral, low F1 for rare emotions.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3575304"/>
            <a:ext cx="4251960" cy="1188720"/>
          </a:xfrm>
          <a:prstGeom prst="rect">
            <a:avLst/>
          </a:prstGeom>
          <a:solidFill>
            <a:srgbClr val="0F2044">
              <a:alpha val="8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20040" y="3575304"/>
            <a:ext cx="502920" cy="1188720"/>
          </a:xfrm>
          <a:prstGeom prst="rect">
            <a:avLst/>
          </a:prstGeom>
          <a:solidFill>
            <a:srgbClr val="14BDAC"/>
          </a:solidFill>
          <a:ln/>
        </p:spPr>
      </p:sp>
      <p:sp>
        <p:nvSpPr>
          <p:cNvPr id="28" name="Text 26"/>
          <p:cNvSpPr/>
          <p:nvPr/>
        </p:nvSpPr>
        <p:spPr>
          <a:xfrm>
            <a:off x="338328" y="3959352"/>
            <a:ext cx="502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14400" y="366674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BD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Cost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914400" y="4050792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+ multi-modal fusion models require significant GPU resources — impractical for edge devices.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3575304"/>
            <a:ext cx="4251960" cy="1188720"/>
          </a:xfrm>
          <a:prstGeom prst="rect">
            <a:avLst/>
          </a:prstGeom>
          <a:solidFill>
            <a:srgbClr val="0F2044">
              <a:alpha val="8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754880" y="3575304"/>
            <a:ext cx="502920" cy="1188720"/>
          </a:xfrm>
          <a:prstGeom prst="rect">
            <a:avLst/>
          </a:prstGeom>
          <a:solidFill>
            <a:srgbClr val="14BDAC"/>
          </a:solidFill>
          <a:ln/>
        </p:spPr>
      </p:sp>
      <p:sp>
        <p:nvSpPr>
          <p:cNvPr id="33" name="Text 31"/>
          <p:cNvSpPr/>
          <p:nvPr/>
        </p:nvSpPr>
        <p:spPr>
          <a:xfrm>
            <a:off x="4773168" y="3959352"/>
            <a:ext cx="502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C6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49240" y="366674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BD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Cross-Cultural Differences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349240" y="4050792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expression norms vary across cultures — models trained on Western datasets fail globally.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74320" y="482803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Ref: Lian et al. Neurocomputing 2023 | Ma et al. Applied Sciences 2024 | Systematic Survey ISA 2023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804672"/>
          </a:xfrm>
          <a:prstGeom prst="rect">
            <a:avLst/>
          </a:prstGeom>
          <a:solidFill>
            <a:srgbClr val="14BDAC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Research Directions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251960" cy="1188720"/>
          </a:xfrm>
          <a:prstGeom prst="rect">
            <a:avLst/>
          </a:prstGeom>
          <a:solidFill>
            <a:srgbClr val="E8F4F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502920" cy="11887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7" name="Text 5"/>
          <p:cNvSpPr/>
          <p:nvPr/>
        </p:nvSpPr>
        <p:spPr>
          <a:xfrm>
            <a:off x="329184" y="1261872"/>
            <a:ext cx="4206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100584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LLMs for Emotion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96112" y="1389888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GPT-4o, Gemini, and Claude as emotion-aware multimodal reasoning engines — zero-shot emotion understanding.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914400"/>
            <a:ext cx="4251960" cy="1188720"/>
          </a:xfrm>
          <a:prstGeom prst="rect">
            <a:avLst/>
          </a:prstGeom>
          <a:solidFill>
            <a:srgbClr val="E8F4F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914400"/>
            <a:ext cx="502920" cy="1188720"/>
          </a:xfrm>
          <a:prstGeom prst="rect">
            <a:avLst/>
          </a:prstGeom>
          <a:solidFill>
            <a:srgbClr val="6C3E9E"/>
          </a:solidFill>
          <a:ln/>
        </p:spPr>
      </p:sp>
      <p:sp>
        <p:nvSpPr>
          <p:cNvPr id="12" name="Text 10"/>
          <p:cNvSpPr/>
          <p:nvPr/>
        </p:nvSpPr>
        <p:spPr>
          <a:xfrm>
            <a:off x="4718304" y="1261872"/>
            <a:ext cx="4206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285232" y="100584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Emotion AI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285232" y="1389888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XAI-native MER systems with inherent interpretability — critical for clinical and legal deployments.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2267712"/>
            <a:ext cx="4251960" cy="1188720"/>
          </a:xfrm>
          <a:prstGeom prst="rect">
            <a:avLst/>
          </a:prstGeom>
          <a:solidFill>
            <a:srgbClr val="E8F4F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267712"/>
            <a:ext cx="502920" cy="11887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7" name="Text 15"/>
          <p:cNvSpPr/>
          <p:nvPr/>
        </p:nvSpPr>
        <p:spPr>
          <a:xfrm>
            <a:off x="329184" y="2615184"/>
            <a:ext cx="4206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96112" y="235915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&amp; Edge MER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96112" y="2743200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distilled transformers (TinyBERT, MobileNet) for on-device emotion recognition in wearables and mobile.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63440" y="2267712"/>
            <a:ext cx="4251960" cy="1188720"/>
          </a:xfrm>
          <a:prstGeom prst="rect">
            <a:avLst/>
          </a:prstGeom>
          <a:solidFill>
            <a:srgbClr val="E8F4F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2267712"/>
            <a:ext cx="502920" cy="1188720"/>
          </a:xfrm>
          <a:prstGeom prst="rect">
            <a:avLst/>
          </a:prstGeom>
          <a:solidFill>
            <a:srgbClr val="6C3E9E"/>
          </a:solidFill>
          <a:ln/>
        </p:spPr>
      </p:sp>
      <p:sp>
        <p:nvSpPr>
          <p:cNvPr id="22" name="Text 20"/>
          <p:cNvSpPr/>
          <p:nvPr/>
        </p:nvSpPr>
        <p:spPr>
          <a:xfrm>
            <a:off x="4718304" y="2615184"/>
            <a:ext cx="4206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285232" y="235915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&amp; Mental Health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285232" y="2743200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passive monitoring of depression, PTSD, and anxiety via multimodal emotion signals.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3621024"/>
            <a:ext cx="4251960" cy="1188720"/>
          </a:xfrm>
          <a:prstGeom prst="rect">
            <a:avLst/>
          </a:prstGeom>
          <a:solidFill>
            <a:srgbClr val="E8F4F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621024"/>
            <a:ext cx="502920" cy="11887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7" name="Text 25"/>
          <p:cNvSpPr/>
          <p:nvPr/>
        </p:nvSpPr>
        <p:spPr>
          <a:xfrm>
            <a:off x="329184" y="3968496"/>
            <a:ext cx="4206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96112" y="3712464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Emotion-aware Autonomous Systems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96112" y="4096512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 and robots that adapt behavior based on passenger / user emotional state in real time.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63440" y="3621024"/>
            <a:ext cx="4251960" cy="1188720"/>
          </a:xfrm>
          <a:prstGeom prst="rect">
            <a:avLst/>
          </a:prstGeom>
          <a:solidFill>
            <a:srgbClr val="E8F4F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3621024"/>
            <a:ext cx="502920" cy="1188720"/>
          </a:xfrm>
          <a:prstGeom prst="rect">
            <a:avLst/>
          </a:prstGeom>
          <a:solidFill>
            <a:srgbClr val="6C3E9E"/>
          </a:solidFill>
          <a:ln/>
        </p:spPr>
      </p:sp>
      <p:sp>
        <p:nvSpPr>
          <p:cNvPr id="32" name="Text 30"/>
          <p:cNvSpPr/>
          <p:nvPr/>
        </p:nvSpPr>
        <p:spPr>
          <a:xfrm>
            <a:off x="4718304" y="3968496"/>
            <a:ext cx="4206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285232" y="3712464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Emotion-aware Chatbots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285232" y="4096512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Next-generation dialogue systems that detect frustration, confusion, or joy and dynamically adjust responses.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74320" y="482803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Ref: R1-Omni 2025 | Ma et al. Applied Sciences 2024 | Systematic Survey ISA 2023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14BDAC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91440" cy="493776"/>
          </a:xfrm>
          <a:prstGeom prst="rect">
            <a:avLst/>
          </a:prstGeom>
          <a:solidFill>
            <a:srgbClr val="14BDAC"/>
          </a:solidFill>
          <a:ln/>
        </p:spPr>
      </p:sp>
      <p:sp>
        <p:nvSpPr>
          <p:cNvPr id="6" name="Text 4"/>
          <p:cNvSpPr/>
          <p:nvPr/>
        </p:nvSpPr>
        <p:spPr>
          <a:xfrm>
            <a:off x="530352" y="914400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Emotion Recognition outperforms unimodal approaches by leveraging complementary audio, video, text, and physiological signals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0040" y="1572768"/>
            <a:ext cx="91440" cy="493776"/>
          </a:xfrm>
          <a:prstGeom prst="rect">
            <a:avLst/>
          </a:prstGeom>
          <a:solidFill>
            <a:srgbClr val="14BDAC"/>
          </a:solidFill>
          <a:ln/>
        </p:spPr>
      </p:sp>
      <p:sp>
        <p:nvSpPr>
          <p:cNvPr id="8" name="Text 6"/>
          <p:cNvSpPr/>
          <p:nvPr/>
        </p:nvSpPr>
        <p:spPr>
          <a:xfrm>
            <a:off x="530352" y="157276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models — CNN, LSTM, BERT, and Transformers — provide powerful feature extractors for each modality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" y="2231136"/>
            <a:ext cx="91440" cy="493776"/>
          </a:xfrm>
          <a:prstGeom prst="rect">
            <a:avLst/>
          </a:prstGeom>
          <a:solidFill>
            <a:srgbClr val="14BDAC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" y="2231136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strategies (Early, Late, Hybrid) are critical design choices — Hybrid with attention mechanisms yields best results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" y="2889504"/>
            <a:ext cx="91440" cy="493776"/>
          </a:xfrm>
          <a:prstGeom prst="rect">
            <a:avLst/>
          </a:prstGeom>
          <a:solidFill>
            <a:srgbClr val="14BDAC"/>
          </a:solidFill>
          <a:ln/>
        </p:spPr>
      </p:sp>
      <p:sp>
        <p:nvSpPr>
          <p:cNvPr id="12" name="Text 10"/>
          <p:cNvSpPr/>
          <p:nvPr/>
        </p:nvSpPr>
        <p:spPr>
          <a:xfrm>
            <a:off x="530352" y="2889504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via XAI tools (SHAP, Grad-CAM) and RL-based models (R1-Omni) are the frontier of trustworthy MER systems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0040" y="3547872"/>
            <a:ext cx="91440" cy="493776"/>
          </a:xfrm>
          <a:prstGeom prst="rect">
            <a:avLst/>
          </a:prstGeom>
          <a:solidFill>
            <a:srgbClr val="14BDAC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" y="3547872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challenges — missing modalities, cross-domain generalization, and real-time deployment — remain active research problems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0040" y="4206240"/>
            <a:ext cx="91440" cy="493776"/>
          </a:xfrm>
          <a:prstGeom prst="rect">
            <a:avLst/>
          </a:prstGeom>
          <a:solidFill>
            <a:srgbClr val="14BDAC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4206240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directions point toward Multimodal LLMs, emotion-aware healthcare, autonomous systems, and edge-deployed MER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74320" y="482803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804672"/>
          </a:xfrm>
          <a:prstGeom prst="rect">
            <a:avLst/>
          </a:prstGeom>
          <a:solidFill>
            <a:srgbClr val="14BDAC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74320" y="932688"/>
            <a:ext cx="73152" cy="34747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32688"/>
            <a:ext cx="8366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H. Wang et al., "A Review of Multimodal Emotion Recognition from Datasets, Preprocessing, Features, and Fusion Methods," Neurocomputing, 2023.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74320" y="1389888"/>
            <a:ext cx="73152" cy="34747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389888"/>
            <a:ext cx="8366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R1-Omni Team, "R1-Omni: Explainable Omni-Multimodal Emotion Recognition with Reinforcement Learning," 2025.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1847088"/>
            <a:ext cx="73152" cy="34747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847088"/>
            <a:ext cx="8366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Y. Zhang et al., "Deep CNN with Late Fusion for Real Time Multimodal Emotion Recognition," Expert Systems With Applications, 2024.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2304288"/>
            <a:ext cx="73152" cy="34747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304288"/>
            <a:ext cx="8366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S. Poria et al., "Deep Learning based Multimodal Emotion Recognition using Model-Level Fusion of Audio–Visual Modalities," Knowledge-Based Systems, 2022.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2761488"/>
            <a:ext cx="73152" cy="34747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761488"/>
            <a:ext cx="8366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S. Poria et al., "A Survey of Deep Learning-Based Multimodal Emotion Recognition: Speech, Text, and Face," Entropy, 2023.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18688"/>
            <a:ext cx="73152" cy="34747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218688"/>
            <a:ext cx="8366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J. Ma et al., "Multimodal Emotion Recognition Using Visual, Vocal and Physiological Signals: A Review," Applied Sciences, 2024.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3675888"/>
            <a:ext cx="73152" cy="34747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675888"/>
            <a:ext cx="8366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S. Tripathi et al., "Multimodal Emotion Recognition using Transfer Learning from Speaker Recognition and BERT-based models," 2022.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4133088"/>
            <a:ext cx="73152" cy="34747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133088"/>
            <a:ext cx="8366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S. Ahmad et al., "A Multimodal Emotion Recognition System using Deep Convolution Neural Networks," Journal of Engineering Research, 2025.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4590288"/>
            <a:ext cx="73152" cy="34747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590288"/>
            <a:ext cx="8366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D. Lian et al., "A Systematic Survey on Multimodal Emotion Recognition using Learning Algorithms," Intelligent Systems with Applications, 2023.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14BDAC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1887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365760" y="260604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3246120"/>
            <a:ext cx="6858000" cy="1508760"/>
          </a:xfrm>
          <a:prstGeom prst="rect">
            <a:avLst/>
          </a:prstGeom>
          <a:solidFill>
            <a:srgbClr val="0F2044">
              <a:alpha val="8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3310128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D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783080" y="3310128"/>
            <a:ext cx="5303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Emotion Recognition using DL &amp; Fusion Techniques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3657600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D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83080" y="3657600"/>
            <a:ext cx="5303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AI/ML, CMR Institute of Technology, Bengaluru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4005072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D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783080" y="4005072"/>
            <a:ext cx="5303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Ms. Sandhya Kumari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4352544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D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83080" y="4352544"/>
            <a:ext cx="5303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[Allie Thakur, Kenesha Watt Q, Syed Anshu] | [1CR23AI003, 1CR23AI045, 1CR24AI408] 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2391</Words>
  <Application>Microsoft Office PowerPoint</Application>
  <PresentationFormat>On-screen Show (16:9)</PresentationFormat>
  <Paragraphs>406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Multimodal Emotion Recognition using Deep Learning and Fusion Techniques</dc:title>
  <dc:subject>PptxGenJS Presentation</dc:subject>
  <dc:creator>PptxGenJS</dc:creator>
  <cp:lastModifiedBy>allie thakur</cp:lastModifiedBy>
  <cp:revision>1</cp:revision>
  <dcterms:created xsi:type="dcterms:W3CDTF">2026-05-17T15:27:13Z</dcterms:created>
  <dcterms:modified xsi:type="dcterms:W3CDTF">2026-05-17T15:56:28Z</dcterms:modified>
</cp:coreProperties>
</file>